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ileron"/>
      <p:regular r:id="rId12"/>
    </p:embeddedFont>
    <p:embeddedFont>
      <p:font typeface="Aileron Bold"/>
      <p:regular r:id="rId13"/>
    </p:embeddedFont>
    <p:embeddedFont>
      <p:font typeface="Aileron Heavy"/>
      <p:regular r:id="rId14"/>
    </p:embeddedFont>
    <p:embeddedFont>
      <p:font typeface="Canva Sans Bold"/>
      <p:regular r:id="rId15"/>
    </p:embeddedFont>
    <p:embeddedFont>
      <p:font typeface="Gulfs Display"/>
      <p:regular r:id="rId16"/>
    </p:embeddedFont>
    <p:embeddedFont>
      <p:font typeface="Kollektif Bold"/>
      <p:regular r:id="rId17"/>
    </p:embeddedFont>
    <p:embeddedFont>
      <p:font typeface="Times New Roman Bold" panose="02020803070505020304" pitchFamily="18" charset="0"/>
      <p:regular r:id="rId18"/>
      <p:bold r:id="rId19"/>
    </p:embeddedFont>
    <p:embeddedFont>
      <p:font typeface="Times New Roman Condensed Bold"/>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9" d="100"/>
          <a:sy n="79" d="100"/>
        </p:scale>
        <p:origin x="53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3" Type="http://schemas.openxmlformats.org/officeDocument/2006/relationships/image" Target="../media/image18.svg"/><Relationship Id="rId18" Type="http://schemas.openxmlformats.org/officeDocument/2006/relationships/image" Target="../media/image23.png"/><Relationship Id="rId26" Type="http://schemas.openxmlformats.org/officeDocument/2006/relationships/image" Target="../media/image31.png"/><Relationship Id="rId21" Type="http://schemas.openxmlformats.org/officeDocument/2006/relationships/image" Target="../media/image26.svg"/><Relationship Id="rId34" Type="http://schemas.openxmlformats.org/officeDocument/2006/relationships/image" Target="../media/image39.png"/><Relationship Id="rId7" Type="http://schemas.openxmlformats.org/officeDocument/2006/relationships/image" Target="../media/image12.svg"/><Relationship Id="rId12" Type="http://schemas.openxmlformats.org/officeDocument/2006/relationships/image" Target="../media/image17.png"/><Relationship Id="rId17" Type="http://schemas.openxmlformats.org/officeDocument/2006/relationships/image" Target="../media/image22.svg"/><Relationship Id="rId25" Type="http://schemas.openxmlformats.org/officeDocument/2006/relationships/image" Target="../media/image30.svg"/><Relationship Id="rId33" Type="http://schemas.openxmlformats.org/officeDocument/2006/relationships/image" Target="../media/image38.svg"/><Relationship Id="rId2" Type="http://schemas.openxmlformats.org/officeDocument/2006/relationships/image" Target="../media/image7.png"/><Relationship Id="rId16" Type="http://schemas.openxmlformats.org/officeDocument/2006/relationships/image" Target="../media/image21.png"/><Relationship Id="rId20" Type="http://schemas.openxmlformats.org/officeDocument/2006/relationships/image" Target="../media/image25.png"/><Relationship Id="rId29" Type="http://schemas.openxmlformats.org/officeDocument/2006/relationships/image" Target="../media/image34.sv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svg"/><Relationship Id="rId24" Type="http://schemas.openxmlformats.org/officeDocument/2006/relationships/image" Target="../media/image29.png"/><Relationship Id="rId32" Type="http://schemas.openxmlformats.org/officeDocument/2006/relationships/image" Target="../media/image37.png"/><Relationship Id="rId37" Type="http://schemas.openxmlformats.org/officeDocument/2006/relationships/image" Target="../media/image42.svg"/><Relationship Id="rId5" Type="http://schemas.openxmlformats.org/officeDocument/2006/relationships/image" Target="../media/image10.svg"/><Relationship Id="rId15" Type="http://schemas.openxmlformats.org/officeDocument/2006/relationships/image" Target="../media/image20.svg"/><Relationship Id="rId23" Type="http://schemas.openxmlformats.org/officeDocument/2006/relationships/image" Target="../media/image28.svg"/><Relationship Id="rId28" Type="http://schemas.openxmlformats.org/officeDocument/2006/relationships/image" Target="../media/image33.png"/><Relationship Id="rId36" Type="http://schemas.openxmlformats.org/officeDocument/2006/relationships/image" Target="../media/image41.png"/><Relationship Id="rId10" Type="http://schemas.openxmlformats.org/officeDocument/2006/relationships/image" Target="../media/image15.png"/><Relationship Id="rId19" Type="http://schemas.openxmlformats.org/officeDocument/2006/relationships/image" Target="../media/image24.svg"/><Relationship Id="rId31" Type="http://schemas.openxmlformats.org/officeDocument/2006/relationships/image" Target="../media/image36.svg"/><Relationship Id="rId4" Type="http://schemas.openxmlformats.org/officeDocument/2006/relationships/image" Target="../media/image9.png"/><Relationship Id="rId9" Type="http://schemas.openxmlformats.org/officeDocument/2006/relationships/image" Target="../media/image14.sv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svg"/><Relationship Id="rId30" Type="http://schemas.openxmlformats.org/officeDocument/2006/relationships/image" Target="../media/image35.png"/><Relationship Id="rId35" Type="http://schemas.openxmlformats.org/officeDocument/2006/relationships/image" Target="../media/image40.svg"/><Relationship Id="rId8" Type="http://schemas.openxmlformats.org/officeDocument/2006/relationships/image" Target="../media/image13.png"/><Relationship Id="rId3" Type="http://schemas.openxmlformats.org/officeDocument/2006/relationships/image" Target="../media/image8.svg"/></Relationships>
</file>

<file path=ppt/slides/_rels/slide3.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png"/><Relationship Id="rId18" Type="http://schemas.openxmlformats.org/officeDocument/2006/relationships/image" Target="../media/image42.svg"/><Relationship Id="rId3" Type="http://schemas.openxmlformats.org/officeDocument/2006/relationships/image" Target="../media/image9.png"/><Relationship Id="rId7" Type="http://schemas.openxmlformats.org/officeDocument/2006/relationships/image" Target="../media/image23.png"/><Relationship Id="rId12" Type="http://schemas.openxmlformats.org/officeDocument/2006/relationships/image" Target="../media/image32.svg"/><Relationship Id="rId17" Type="http://schemas.openxmlformats.org/officeDocument/2006/relationships/image" Target="../media/image41.png"/><Relationship Id="rId2" Type="http://schemas.openxmlformats.org/officeDocument/2006/relationships/image" Target="../media/image45.png"/><Relationship Id="rId16" Type="http://schemas.openxmlformats.org/officeDocument/2006/relationships/image" Target="../media/image26.svg"/><Relationship Id="rId1" Type="http://schemas.openxmlformats.org/officeDocument/2006/relationships/slideLayout" Target="../slideLayouts/slideLayout7.xml"/><Relationship Id="rId6" Type="http://schemas.openxmlformats.org/officeDocument/2006/relationships/image" Target="../media/image38.svg"/><Relationship Id="rId11" Type="http://schemas.openxmlformats.org/officeDocument/2006/relationships/image" Target="../media/image31.png"/><Relationship Id="rId5" Type="http://schemas.openxmlformats.org/officeDocument/2006/relationships/image" Target="../media/image37.png"/><Relationship Id="rId15" Type="http://schemas.openxmlformats.org/officeDocument/2006/relationships/image" Target="../media/image25.png"/><Relationship Id="rId10" Type="http://schemas.openxmlformats.org/officeDocument/2006/relationships/image" Target="../media/image36.svg"/><Relationship Id="rId4" Type="http://schemas.openxmlformats.org/officeDocument/2006/relationships/image" Target="../media/image10.svg"/><Relationship Id="rId9" Type="http://schemas.openxmlformats.org/officeDocument/2006/relationships/image" Target="../media/image35.png"/><Relationship Id="rId14" Type="http://schemas.openxmlformats.org/officeDocument/2006/relationships/image" Target="../media/image30.svg"/></Relationships>
</file>

<file path=ppt/slides/_rels/slide6.xml.rels><?xml version="1.0" encoding="UTF-8" standalone="yes"?>
<Relationships xmlns="http://schemas.openxmlformats.org/package/2006/relationships"><Relationship Id="rId13" Type="http://schemas.openxmlformats.org/officeDocument/2006/relationships/image" Target="../media/image40.svg"/><Relationship Id="rId18" Type="http://schemas.openxmlformats.org/officeDocument/2006/relationships/image" Target="../media/image15.png"/><Relationship Id="rId26" Type="http://schemas.openxmlformats.org/officeDocument/2006/relationships/image" Target="../media/image31.png"/><Relationship Id="rId3" Type="http://schemas.openxmlformats.org/officeDocument/2006/relationships/image" Target="../media/image10.svg"/><Relationship Id="rId21" Type="http://schemas.openxmlformats.org/officeDocument/2006/relationships/image" Target="../media/image18.svg"/><Relationship Id="rId34" Type="http://schemas.openxmlformats.org/officeDocument/2006/relationships/image" Target="../media/image26.svg"/><Relationship Id="rId7" Type="http://schemas.openxmlformats.org/officeDocument/2006/relationships/image" Target="../media/image28.svg"/><Relationship Id="rId12" Type="http://schemas.openxmlformats.org/officeDocument/2006/relationships/image" Target="../media/image39.png"/><Relationship Id="rId17" Type="http://schemas.openxmlformats.org/officeDocument/2006/relationships/image" Target="../media/image14.svg"/><Relationship Id="rId25" Type="http://schemas.openxmlformats.org/officeDocument/2006/relationships/image" Target="../media/image24.svg"/><Relationship Id="rId33" Type="http://schemas.openxmlformats.org/officeDocument/2006/relationships/image" Target="../media/image25.png"/><Relationship Id="rId2" Type="http://schemas.openxmlformats.org/officeDocument/2006/relationships/image" Target="../media/image9.png"/><Relationship Id="rId16" Type="http://schemas.openxmlformats.org/officeDocument/2006/relationships/image" Target="../media/image13.png"/><Relationship Id="rId20" Type="http://schemas.openxmlformats.org/officeDocument/2006/relationships/image" Target="../media/image17.png"/><Relationship Id="rId29" Type="http://schemas.openxmlformats.org/officeDocument/2006/relationships/image" Target="../media/image34.sv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6.svg"/><Relationship Id="rId24" Type="http://schemas.openxmlformats.org/officeDocument/2006/relationships/image" Target="../media/image23.png"/><Relationship Id="rId32" Type="http://schemas.openxmlformats.org/officeDocument/2006/relationships/image" Target="../media/image46.png"/><Relationship Id="rId5" Type="http://schemas.openxmlformats.org/officeDocument/2006/relationships/image" Target="../media/image20.svg"/><Relationship Id="rId15" Type="http://schemas.openxmlformats.org/officeDocument/2006/relationships/image" Target="../media/image12.svg"/><Relationship Id="rId23" Type="http://schemas.openxmlformats.org/officeDocument/2006/relationships/image" Target="../media/image22.svg"/><Relationship Id="rId28" Type="http://schemas.openxmlformats.org/officeDocument/2006/relationships/image" Target="../media/image33.png"/><Relationship Id="rId36" Type="http://schemas.openxmlformats.org/officeDocument/2006/relationships/image" Target="../media/image42.svg"/><Relationship Id="rId10" Type="http://schemas.openxmlformats.org/officeDocument/2006/relationships/image" Target="../media/image35.png"/><Relationship Id="rId19" Type="http://schemas.openxmlformats.org/officeDocument/2006/relationships/image" Target="../media/image16.svg"/><Relationship Id="rId31" Type="http://schemas.openxmlformats.org/officeDocument/2006/relationships/image" Target="../media/image38.svg"/><Relationship Id="rId4" Type="http://schemas.openxmlformats.org/officeDocument/2006/relationships/image" Target="../media/image19.png"/><Relationship Id="rId9" Type="http://schemas.openxmlformats.org/officeDocument/2006/relationships/image" Target="../media/image30.svg"/><Relationship Id="rId14" Type="http://schemas.openxmlformats.org/officeDocument/2006/relationships/image" Target="../media/image11.png"/><Relationship Id="rId22" Type="http://schemas.openxmlformats.org/officeDocument/2006/relationships/image" Target="../media/image21.png"/><Relationship Id="rId27" Type="http://schemas.openxmlformats.org/officeDocument/2006/relationships/image" Target="../media/image32.svg"/><Relationship Id="rId30" Type="http://schemas.openxmlformats.org/officeDocument/2006/relationships/image" Target="../media/image37.png"/><Relationship Id="rId35" Type="http://schemas.openxmlformats.org/officeDocument/2006/relationships/image" Target="../media/image41.png"/><Relationship Id="rId8" Type="http://schemas.openxmlformats.org/officeDocument/2006/relationships/image" Target="../media/image29.png"/></Relationships>
</file>

<file path=ppt/slides/_rels/slide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9.svg"/><Relationship Id="rId7" Type="http://schemas.openxmlformats.org/officeDocument/2006/relationships/image" Target="../media/image53.sv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svg"/><Relationship Id="rId4" Type="http://schemas.openxmlformats.org/officeDocument/2006/relationships/image" Target="../media/image5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10800000">
            <a:off x="0" y="7065308"/>
            <a:ext cx="3221692" cy="3221692"/>
          </a:xfrm>
          <a:custGeom>
            <a:avLst/>
            <a:gdLst/>
            <a:ahLst/>
            <a:cxnLst/>
            <a:rect l="l" t="t" r="r" b="b"/>
            <a:pathLst>
              <a:path w="3221692" h="3221692">
                <a:moveTo>
                  <a:pt x="0" y="0"/>
                </a:moveTo>
                <a:lnTo>
                  <a:pt x="3221692" y="0"/>
                </a:lnTo>
                <a:lnTo>
                  <a:pt x="3221692" y="3221692"/>
                </a:lnTo>
                <a:lnTo>
                  <a:pt x="0" y="3221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3" name="Group 3"/>
          <p:cNvGrpSpPr/>
          <p:nvPr/>
        </p:nvGrpSpPr>
        <p:grpSpPr>
          <a:xfrm rot="-8100000">
            <a:off x="-4252983" y="3307993"/>
            <a:ext cx="22404652" cy="8950886"/>
            <a:chOff x="0" y="0"/>
            <a:chExt cx="35276568" cy="14093347"/>
          </a:xfrm>
        </p:grpSpPr>
        <p:sp>
          <p:nvSpPr>
            <p:cNvPr id="4" name="Freeform 4"/>
            <p:cNvSpPr/>
            <p:nvPr/>
          </p:nvSpPr>
          <p:spPr>
            <a:xfrm>
              <a:off x="0" y="0"/>
              <a:ext cx="35276569" cy="14093346"/>
            </a:xfrm>
            <a:custGeom>
              <a:avLst/>
              <a:gdLst/>
              <a:ahLst/>
              <a:cxnLst/>
              <a:rect l="l" t="t" r="r" b="b"/>
              <a:pathLst>
                <a:path w="35276569" h="14093346">
                  <a:moveTo>
                    <a:pt x="0" y="0"/>
                  </a:moveTo>
                  <a:lnTo>
                    <a:pt x="35276569" y="0"/>
                  </a:lnTo>
                  <a:lnTo>
                    <a:pt x="35276569" y="14093346"/>
                  </a:lnTo>
                  <a:lnTo>
                    <a:pt x="0" y="14093346"/>
                  </a:lnTo>
                  <a:close/>
                </a:path>
              </a:pathLst>
            </a:custGeom>
            <a:solidFill>
              <a:srgbClr val="F1EFE1"/>
            </a:solidFill>
          </p:spPr>
          <p:txBody>
            <a:bodyPr/>
            <a:lstStyle/>
            <a:p>
              <a:endParaRPr lang="en-GB"/>
            </a:p>
          </p:txBody>
        </p:sp>
      </p:grpSp>
      <p:sp>
        <p:nvSpPr>
          <p:cNvPr id="5" name="Freeform 5"/>
          <p:cNvSpPr/>
          <p:nvPr/>
        </p:nvSpPr>
        <p:spPr>
          <a:xfrm rot="5400000">
            <a:off x="11136547" y="3135547"/>
            <a:ext cx="7151453" cy="7151453"/>
          </a:xfrm>
          <a:custGeom>
            <a:avLst/>
            <a:gdLst/>
            <a:ahLst/>
            <a:cxnLst/>
            <a:rect l="l" t="t" r="r" b="b"/>
            <a:pathLst>
              <a:path w="7151453" h="7151453">
                <a:moveTo>
                  <a:pt x="0" y="0"/>
                </a:moveTo>
                <a:lnTo>
                  <a:pt x="7151453" y="0"/>
                </a:lnTo>
                <a:lnTo>
                  <a:pt x="7151453" y="7151453"/>
                </a:lnTo>
                <a:lnTo>
                  <a:pt x="0" y="71514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6" name="Freeform 6"/>
          <p:cNvSpPr/>
          <p:nvPr/>
        </p:nvSpPr>
        <p:spPr>
          <a:xfrm>
            <a:off x="10336252" y="2073"/>
            <a:ext cx="6197967" cy="6266948"/>
          </a:xfrm>
          <a:custGeom>
            <a:avLst/>
            <a:gdLst/>
            <a:ahLst/>
            <a:cxnLst/>
            <a:rect l="l" t="t" r="r" b="b"/>
            <a:pathLst>
              <a:path w="6197967" h="6266948">
                <a:moveTo>
                  <a:pt x="0" y="0"/>
                </a:moveTo>
                <a:lnTo>
                  <a:pt x="6197967" y="0"/>
                </a:lnTo>
                <a:lnTo>
                  <a:pt x="6197967" y="6266948"/>
                </a:lnTo>
                <a:lnTo>
                  <a:pt x="0" y="6266948"/>
                </a:lnTo>
                <a:lnTo>
                  <a:pt x="0" y="0"/>
                </a:lnTo>
                <a:close/>
              </a:path>
            </a:pathLst>
          </a:custGeom>
          <a:blipFill>
            <a:blip r:embed="rId6"/>
            <a:stretch>
              <a:fillRect l="-664" r="-664"/>
            </a:stretch>
          </a:blipFill>
        </p:spPr>
        <p:txBody>
          <a:bodyPr/>
          <a:lstStyle/>
          <a:p>
            <a:endParaRPr lang="en-GB"/>
          </a:p>
        </p:txBody>
      </p:sp>
      <p:sp>
        <p:nvSpPr>
          <p:cNvPr id="7" name="Freeform 7"/>
          <p:cNvSpPr/>
          <p:nvPr/>
        </p:nvSpPr>
        <p:spPr>
          <a:xfrm>
            <a:off x="770399" y="1600516"/>
            <a:ext cx="6399066" cy="7464066"/>
          </a:xfrm>
          <a:custGeom>
            <a:avLst/>
            <a:gdLst/>
            <a:ahLst/>
            <a:cxnLst/>
            <a:rect l="l" t="t" r="r" b="b"/>
            <a:pathLst>
              <a:path w="6399066" h="7464066">
                <a:moveTo>
                  <a:pt x="0" y="0"/>
                </a:moveTo>
                <a:lnTo>
                  <a:pt x="6399066" y="0"/>
                </a:lnTo>
                <a:lnTo>
                  <a:pt x="6399066" y="7464066"/>
                </a:lnTo>
                <a:lnTo>
                  <a:pt x="0" y="7464066"/>
                </a:lnTo>
                <a:lnTo>
                  <a:pt x="0" y="0"/>
                </a:lnTo>
                <a:close/>
              </a:path>
            </a:pathLst>
          </a:custGeom>
          <a:blipFill>
            <a:blip r:embed="rId7">
              <a:alphaModFix amt="70000"/>
            </a:blip>
            <a:stretch>
              <a:fillRect/>
            </a:stretch>
          </a:blipFill>
        </p:spPr>
        <p:txBody>
          <a:bodyPr/>
          <a:lstStyle/>
          <a:p>
            <a:endParaRPr lang="en-GB"/>
          </a:p>
        </p:txBody>
      </p:sp>
      <p:sp>
        <p:nvSpPr>
          <p:cNvPr id="8" name="TextBox 8"/>
          <p:cNvSpPr txBox="1"/>
          <p:nvPr/>
        </p:nvSpPr>
        <p:spPr>
          <a:xfrm>
            <a:off x="317071" y="4067175"/>
            <a:ext cx="8995176" cy="2124075"/>
          </a:xfrm>
          <a:prstGeom prst="rect">
            <a:avLst/>
          </a:prstGeom>
        </p:spPr>
        <p:txBody>
          <a:bodyPr lIns="0" tIns="0" rIns="0" bIns="0" rtlCol="0" anchor="t">
            <a:spAutoFit/>
          </a:bodyPr>
          <a:lstStyle/>
          <a:p>
            <a:pPr algn="l">
              <a:lnSpc>
                <a:spcPts val="5250"/>
              </a:lnSpc>
            </a:pPr>
            <a:r>
              <a:rPr lang="en-US" sz="5000" b="1">
                <a:solidFill>
                  <a:srgbClr val="000000"/>
                </a:solidFill>
                <a:latin typeface="Times New Roman Condensed Bold"/>
                <a:ea typeface="Times New Roman Condensed Bold"/>
                <a:cs typeface="Times New Roman Condensed Bold"/>
                <a:sym typeface="Times New Roman Condensed Bold"/>
              </a:rPr>
              <a:t>Challenges in Implementing the United Nations Sustainable Development Goals (SDGs) in Bangladesh</a:t>
            </a:r>
          </a:p>
        </p:txBody>
      </p:sp>
      <p:sp>
        <p:nvSpPr>
          <p:cNvPr id="9" name="TextBox 9"/>
          <p:cNvSpPr txBox="1"/>
          <p:nvPr/>
        </p:nvSpPr>
        <p:spPr>
          <a:xfrm>
            <a:off x="8451141" y="7423640"/>
            <a:ext cx="4984094" cy="908050"/>
          </a:xfrm>
          <a:prstGeom prst="rect">
            <a:avLst/>
          </a:prstGeom>
        </p:spPr>
        <p:txBody>
          <a:bodyPr lIns="0" tIns="0" rIns="0" bIns="0" rtlCol="0" anchor="t">
            <a:spAutoFit/>
          </a:bodyPr>
          <a:lstStyle/>
          <a:p>
            <a:pPr algn="l">
              <a:lnSpc>
                <a:spcPts val="3499"/>
              </a:lnSpc>
            </a:pPr>
            <a:r>
              <a:rPr lang="en-US" sz="2499" spc="49">
                <a:solidFill>
                  <a:srgbClr val="192954"/>
                </a:solidFill>
                <a:latin typeface="Times New Roman"/>
                <a:ea typeface="Times New Roman"/>
                <a:cs typeface="Times New Roman"/>
                <a:sym typeface="Times New Roman"/>
              </a:rPr>
              <a:t>Presented By</a:t>
            </a:r>
          </a:p>
          <a:p>
            <a:pPr marL="0" lvl="0" indent="0" algn="l">
              <a:lnSpc>
                <a:spcPts val="3499"/>
              </a:lnSpc>
              <a:spcBef>
                <a:spcPct val="0"/>
              </a:spcBef>
            </a:pPr>
            <a:r>
              <a:rPr lang="en-US" sz="2499" b="1" spc="49">
                <a:solidFill>
                  <a:srgbClr val="192954"/>
                </a:solidFill>
                <a:latin typeface="Times New Roman Bold"/>
                <a:ea typeface="Times New Roman Bold"/>
                <a:cs typeface="Times New Roman Bold"/>
                <a:sym typeface="Times New Roman Bold"/>
              </a:rPr>
              <a:t>Al Sifat Siddiki - ID: 40735842</a:t>
            </a:r>
          </a:p>
        </p:txBody>
      </p:sp>
      <p:sp>
        <p:nvSpPr>
          <p:cNvPr id="10" name="TextBox 10"/>
          <p:cNvSpPr txBox="1"/>
          <p:nvPr/>
        </p:nvSpPr>
        <p:spPr>
          <a:xfrm>
            <a:off x="13435235" y="9550890"/>
            <a:ext cx="4997424" cy="735965"/>
          </a:xfrm>
          <a:prstGeom prst="rect">
            <a:avLst/>
          </a:prstGeom>
        </p:spPr>
        <p:txBody>
          <a:bodyPr lIns="0" tIns="0" rIns="0" bIns="0" rtlCol="0" anchor="t">
            <a:spAutoFit/>
          </a:bodyPr>
          <a:lstStyle/>
          <a:p>
            <a:pPr algn="l">
              <a:lnSpc>
                <a:spcPts val="1960"/>
              </a:lnSpc>
            </a:pPr>
            <a:r>
              <a:rPr lang="en-US" sz="1400" spc="28">
                <a:solidFill>
                  <a:srgbClr val="FFFFFF"/>
                </a:solidFill>
                <a:latin typeface="Aileron"/>
                <a:ea typeface="Aileron"/>
                <a:cs typeface="Aileron"/>
                <a:sym typeface="Aileron"/>
              </a:rPr>
              <a:t>Fig 2.Sustainable Development Goals Circle</a:t>
            </a:r>
          </a:p>
          <a:p>
            <a:pPr algn="l">
              <a:lnSpc>
                <a:spcPts val="1960"/>
              </a:lnSpc>
              <a:spcBef>
                <a:spcPct val="0"/>
              </a:spcBef>
            </a:pPr>
            <a:r>
              <a:rPr lang="en-US" sz="1400" spc="28">
                <a:solidFill>
                  <a:srgbClr val="FFFFFF"/>
                </a:solidFill>
                <a:latin typeface="Aileron"/>
                <a:ea typeface="Aileron"/>
                <a:cs typeface="Aileron"/>
                <a:sym typeface="Aileron"/>
              </a:rPr>
              <a:t>Source: https://www.vhv.rs/viewpic/hoRwooJ_un-sustainable-development-goals-circle-hd-png-download/</a:t>
            </a:r>
          </a:p>
        </p:txBody>
      </p:sp>
      <p:sp>
        <p:nvSpPr>
          <p:cNvPr id="11" name="TextBox 11"/>
          <p:cNvSpPr txBox="1"/>
          <p:nvPr/>
        </p:nvSpPr>
        <p:spPr>
          <a:xfrm>
            <a:off x="0" y="9770110"/>
            <a:ext cx="6128930" cy="516890"/>
          </a:xfrm>
          <a:prstGeom prst="rect">
            <a:avLst/>
          </a:prstGeom>
        </p:spPr>
        <p:txBody>
          <a:bodyPr lIns="0" tIns="0" rIns="0" bIns="0" rtlCol="0" anchor="t">
            <a:spAutoFit/>
          </a:bodyPr>
          <a:lstStyle/>
          <a:p>
            <a:pPr algn="just">
              <a:lnSpc>
                <a:spcPts val="1960"/>
              </a:lnSpc>
            </a:pPr>
            <a:r>
              <a:rPr lang="en-US" sz="1400" spc="28">
                <a:solidFill>
                  <a:srgbClr val="000000"/>
                </a:solidFill>
                <a:latin typeface="Times New Roman"/>
                <a:ea typeface="Times New Roman"/>
                <a:cs typeface="Times New Roman"/>
                <a:sym typeface="Times New Roman"/>
              </a:rPr>
              <a:t> Fig 1.Bangladesh Map Flag</a:t>
            </a:r>
          </a:p>
          <a:p>
            <a:pPr algn="just">
              <a:lnSpc>
                <a:spcPts val="1960"/>
              </a:lnSpc>
              <a:spcBef>
                <a:spcPct val="0"/>
              </a:spcBef>
            </a:pPr>
            <a:r>
              <a:rPr lang="en-US" sz="1400" spc="28">
                <a:solidFill>
                  <a:srgbClr val="000000"/>
                </a:solidFill>
                <a:latin typeface="Times New Roman"/>
                <a:ea typeface="Times New Roman"/>
                <a:cs typeface="Times New Roman"/>
                <a:sym typeface="Times New Roman"/>
              </a:rPr>
              <a:t>Source: https://en.wikipedia.org/wiki/File:Flag_Map_of_Bangladesh.png</a:t>
            </a:r>
          </a:p>
        </p:txBody>
      </p:sp>
      <p:sp>
        <p:nvSpPr>
          <p:cNvPr id="12" name="AutoShape 12"/>
          <p:cNvSpPr/>
          <p:nvPr/>
        </p:nvSpPr>
        <p:spPr>
          <a:xfrm>
            <a:off x="1684976" y="8658293"/>
            <a:ext cx="14918048" cy="0"/>
          </a:xfrm>
          <a:prstGeom prst="line">
            <a:avLst/>
          </a:prstGeom>
          <a:ln w="9525" cap="rnd">
            <a:solidFill>
              <a:srgbClr val="000000"/>
            </a:solidFill>
            <a:prstDash val="solid"/>
            <a:headEnd type="none" w="sm" len="sm"/>
            <a:tailEnd type="none" w="sm" len="sm"/>
          </a:ln>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EFE1"/>
        </a:solidFill>
        <a:effectLst/>
      </p:bgPr>
    </p:bg>
    <p:spTree>
      <p:nvGrpSpPr>
        <p:cNvPr id="1" name=""/>
        <p:cNvGrpSpPr/>
        <p:nvPr/>
      </p:nvGrpSpPr>
      <p:grpSpPr>
        <a:xfrm>
          <a:off x="0" y="0"/>
          <a:ext cx="0" cy="0"/>
          <a:chOff x="0" y="0"/>
          <a:chExt cx="0" cy="0"/>
        </a:xfrm>
      </p:grpSpPr>
      <p:sp>
        <p:nvSpPr>
          <p:cNvPr id="2" name="Freeform 2"/>
          <p:cNvSpPr/>
          <p:nvPr/>
        </p:nvSpPr>
        <p:spPr>
          <a:xfrm>
            <a:off x="1143639" y="2588481"/>
            <a:ext cx="4157454" cy="1104423"/>
          </a:xfrm>
          <a:custGeom>
            <a:avLst/>
            <a:gdLst/>
            <a:ahLst/>
            <a:cxnLst/>
            <a:rect l="l" t="t" r="r" b="b"/>
            <a:pathLst>
              <a:path w="4157454" h="1104423">
                <a:moveTo>
                  <a:pt x="0" y="0"/>
                </a:moveTo>
                <a:lnTo>
                  <a:pt x="4157454" y="0"/>
                </a:lnTo>
                <a:lnTo>
                  <a:pt x="4157454" y="1104423"/>
                </a:lnTo>
                <a:lnTo>
                  <a:pt x="0" y="11044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5601710" y="2435891"/>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Freeform 4"/>
          <p:cNvSpPr/>
          <p:nvPr/>
        </p:nvSpPr>
        <p:spPr>
          <a:xfrm>
            <a:off x="2546140" y="4042384"/>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5" name="Freeform 5"/>
          <p:cNvSpPr/>
          <p:nvPr/>
        </p:nvSpPr>
        <p:spPr>
          <a:xfrm>
            <a:off x="1031131" y="5573649"/>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6" name="Freeform 6"/>
          <p:cNvSpPr/>
          <p:nvPr/>
        </p:nvSpPr>
        <p:spPr>
          <a:xfrm>
            <a:off x="4081164" y="7104914"/>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sp>
        <p:nvSpPr>
          <p:cNvPr id="7" name="Freeform 7"/>
          <p:cNvSpPr/>
          <p:nvPr/>
        </p:nvSpPr>
        <p:spPr>
          <a:xfrm>
            <a:off x="2569035" y="7104914"/>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GB"/>
          </a:p>
        </p:txBody>
      </p:sp>
      <p:sp>
        <p:nvSpPr>
          <p:cNvPr id="8" name="Freeform 8"/>
          <p:cNvSpPr/>
          <p:nvPr/>
        </p:nvSpPr>
        <p:spPr>
          <a:xfrm>
            <a:off x="7134002" y="5573649"/>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GB"/>
          </a:p>
        </p:txBody>
      </p:sp>
      <p:sp>
        <p:nvSpPr>
          <p:cNvPr id="9" name="Freeform 9"/>
          <p:cNvSpPr/>
          <p:nvPr/>
        </p:nvSpPr>
        <p:spPr>
          <a:xfrm>
            <a:off x="1028700" y="4042384"/>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GB"/>
          </a:p>
        </p:txBody>
      </p:sp>
      <p:sp>
        <p:nvSpPr>
          <p:cNvPr id="10" name="Freeform 10"/>
          <p:cNvSpPr/>
          <p:nvPr/>
        </p:nvSpPr>
        <p:spPr>
          <a:xfrm>
            <a:off x="1031131" y="7104914"/>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GB"/>
          </a:p>
        </p:txBody>
      </p:sp>
      <p:sp>
        <p:nvSpPr>
          <p:cNvPr id="11" name="Freeform 11"/>
          <p:cNvSpPr/>
          <p:nvPr/>
        </p:nvSpPr>
        <p:spPr>
          <a:xfrm>
            <a:off x="5602812" y="7104914"/>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GB"/>
          </a:p>
        </p:txBody>
      </p:sp>
      <p:sp>
        <p:nvSpPr>
          <p:cNvPr id="12" name="Freeform 12"/>
          <p:cNvSpPr/>
          <p:nvPr/>
        </p:nvSpPr>
        <p:spPr>
          <a:xfrm>
            <a:off x="7134002" y="4042384"/>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GB"/>
          </a:p>
        </p:txBody>
      </p:sp>
      <p:sp>
        <p:nvSpPr>
          <p:cNvPr id="13" name="Freeform 13"/>
          <p:cNvSpPr/>
          <p:nvPr/>
        </p:nvSpPr>
        <p:spPr>
          <a:xfrm>
            <a:off x="5603764" y="4042384"/>
            <a:ext cx="1409602" cy="1409602"/>
          </a:xfrm>
          <a:custGeom>
            <a:avLst/>
            <a:gdLst/>
            <a:ahLst/>
            <a:cxnLst/>
            <a:rect l="l" t="t" r="r" b="b"/>
            <a:pathLst>
              <a:path w="1409602" h="1409602">
                <a:moveTo>
                  <a:pt x="0" y="0"/>
                </a:moveTo>
                <a:lnTo>
                  <a:pt x="1409603" y="0"/>
                </a:lnTo>
                <a:lnTo>
                  <a:pt x="1409603" y="1409602"/>
                </a:lnTo>
                <a:lnTo>
                  <a:pt x="0" y="1409602"/>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GB"/>
          </a:p>
        </p:txBody>
      </p:sp>
      <p:sp>
        <p:nvSpPr>
          <p:cNvPr id="14" name="Freeform 14"/>
          <p:cNvSpPr/>
          <p:nvPr/>
        </p:nvSpPr>
        <p:spPr>
          <a:xfrm>
            <a:off x="2553731" y="5573649"/>
            <a:ext cx="1409602" cy="1409602"/>
          </a:xfrm>
          <a:custGeom>
            <a:avLst/>
            <a:gdLst/>
            <a:ahLst/>
            <a:cxnLst/>
            <a:rect l="l" t="t" r="r" b="b"/>
            <a:pathLst>
              <a:path w="1409602" h="1409602">
                <a:moveTo>
                  <a:pt x="0" y="0"/>
                </a:moveTo>
                <a:lnTo>
                  <a:pt x="1409603" y="0"/>
                </a:lnTo>
                <a:lnTo>
                  <a:pt x="1409603" y="1409602"/>
                </a:lnTo>
                <a:lnTo>
                  <a:pt x="0" y="1409602"/>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GB"/>
          </a:p>
        </p:txBody>
      </p:sp>
      <p:sp>
        <p:nvSpPr>
          <p:cNvPr id="15" name="Freeform 15"/>
          <p:cNvSpPr/>
          <p:nvPr/>
        </p:nvSpPr>
        <p:spPr>
          <a:xfrm>
            <a:off x="4076302" y="4042384"/>
            <a:ext cx="1409602" cy="1409602"/>
          </a:xfrm>
          <a:custGeom>
            <a:avLst/>
            <a:gdLst/>
            <a:ahLst/>
            <a:cxnLst/>
            <a:rect l="l" t="t" r="r" b="b"/>
            <a:pathLst>
              <a:path w="1409602" h="1409602">
                <a:moveTo>
                  <a:pt x="0" y="0"/>
                </a:moveTo>
                <a:lnTo>
                  <a:pt x="1409603" y="0"/>
                </a:lnTo>
                <a:lnTo>
                  <a:pt x="1409603" y="1409602"/>
                </a:lnTo>
                <a:lnTo>
                  <a:pt x="0" y="1409602"/>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GB"/>
          </a:p>
        </p:txBody>
      </p:sp>
      <p:sp>
        <p:nvSpPr>
          <p:cNvPr id="16" name="Freeform 16"/>
          <p:cNvSpPr/>
          <p:nvPr/>
        </p:nvSpPr>
        <p:spPr>
          <a:xfrm>
            <a:off x="7134002" y="2435891"/>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GB"/>
          </a:p>
        </p:txBody>
      </p:sp>
      <p:sp>
        <p:nvSpPr>
          <p:cNvPr id="17" name="Freeform 17"/>
          <p:cNvSpPr/>
          <p:nvPr/>
        </p:nvSpPr>
        <p:spPr>
          <a:xfrm>
            <a:off x="4076302" y="5573649"/>
            <a:ext cx="1409602" cy="1409602"/>
          </a:xfrm>
          <a:custGeom>
            <a:avLst/>
            <a:gdLst/>
            <a:ahLst/>
            <a:cxnLst/>
            <a:rect l="l" t="t" r="r" b="b"/>
            <a:pathLst>
              <a:path w="1409602" h="1409602">
                <a:moveTo>
                  <a:pt x="0" y="0"/>
                </a:moveTo>
                <a:lnTo>
                  <a:pt x="1409603" y="0"/>
                </a:lnTo>
                <a:lnTo>
                  <a:pt x="1409603" y="1409602"/>
                </a:lnTo>
                <a:lnTo>
                  <a:pt x="0" y="1409602"/>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txBody>
          <a:bodyPr/>
          <a:lstStyle/>
          <a:p>
            <a:endParaRPr lang="en-GB"/>
          </a:p>
        </p:txBody>
      </p:sp>
      <p:sp>
        <p:nvSpPr>
          <p:cNvPr id="18" name="Freeform 18"/>
          <p:cNvSpPr/>
          <p:nvPr/>
        </p:nvSpPr>
        <p:spPr>
          <a:xfrm>
            <a:off x="5603764" y="5573649"/>
            <a:ext cx="1409602" cy="1409602"/>
          </a:xfrm>
          <a:custGeom>
            <a:avLst/>
            <a:gdLst/>
            <a:ahLst/>
            <a:cxnLst/>
            <a:rect l="l" t="t" r="r" b="b"/>
            <a:pathLst>
              <a:path w="1409602" h="1409602">
                <a:moveTo>
                  <a:pt x="0" y="0"/>
                </a:moveTo>
                <a:lnTo>
                  <a:pt x="1409603" y="0"/>
                </a:lnTo>
                <a:lnTo>
                  <a:pt x="1409603" y="1409602"/>
                </a:lnTo>
                <a:lnTo>
                  <a:pt x="0" y="1409602"/>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txBody>
          <a:bodyPr/>
          <a:lstStyle/>
          <a:p>
            <a:endParaRPr lang="en-GB"/>
          </a:p>
        </p:txBody>
      </p:sp>
      <p:sp>
        <p:nvSpPr>
          <p:cNvPr id="19" name="Freeform 19"/>
          <p:cNvSpPr/>
          <p:nvPr/>
        </p:nvSpPr>
        <p:spPr>
          <a:xfrm>
            <a:off x="7134002" y="7104914"/>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GB"/>
          </a:p>
        </p:txBody>
      </p:sp>
      <p:sp>
        <p:nvSpPr>
          <p:cNvPr id="20" name="TextBox 20"/>
          <p:cNvSpPr txBox="1"/>
          <p:nvPr/>
        </p:nvSpPr>
        <p:spPr>
          <a:xfrm>
            <a:off x="2031875" y="603774"/>
            <a:ext cx="7650381" cy="1457325"/>
          </a:xfrm>
          <a:prstGeom prst="rect">
            <a:avLst/>
          </a:prstGeom>
        </p:spPr>
        <p:txBody>
          <a:bodyPr lIns="0" tIns="0" rIns="0" bIns="0" rtlCol="0" anchor="t">
            <a:spAutoFit/>
          </a:bodyPr>
          <a:lstStyle/>
          <a:p>
            <a:pPr algn="l">
              <a:lnSpc>
                <a:spcPts val="5250"/>
              </a:lnSpc>
            </a:pPr>
            <a:r>
              <a:rPr lang="en-US" sz="5000" b="1">
                <a:solidFill>
                  <a:srgbClr val="000000"/>
                </a:solidFill>
                <a:latin typeface="Times New Roman Bold"/>
                <a:ea typeface="Times New Roman Bold"/>
                <a:cs typeface="Times New Roman Bold"/>
                <a:sym typeface="Times New Roman Bold"/>
              </a:rPr>
              <a:t>What is Sustainable Development Goals (SDGs)?</a:t>
            </a:r>
          </a:p>
        </p:txBody>
      </p:sp>
      <p:grpSp>
        <p:nvGrpSpPr>
          <p:cNvPr id="21" name="Group 21"/>
          <p:cNvGrpSpPr/>
          <p:nvPr/>
        </p:nvGrpSpPr>
        <p:grpSpPr>
          <a:xfrm rot="8100000">
            <a:off x="8225686" y="7726079"/>
            <a:ext cx="20124627" cy="8722700"/>
            <a:chOff x="0" y="0"/>
            <a:chExt cx="31686624" cy="13734063"/>
          </a:xfrm>
        </p:grpSpPr>
        <p:sp>
          <p:nvSpPr>
            <p:cNvPr id="22" name="Freeform 22"/>
            <p:cNvSpPr/>
            <p:nvPr/>
          </p:nvSpPr>
          <p:spPr>
            <a:xfrm>
              <a:off x="0" y="0"/>
              <a:ext cx="31686624" cy="13734062"/>
            </a:xfrm>
            <a:custGeom>
              <a:avLst/>
              <a:gdLst/>
              <a:ahLst/>
              <a:cxnLst/>
              <a:rect l="l" t="t" r="r" b="b"/>
              <a:pathLst>
                <a:path w="31686624" h="13734062">
                  <a:moveTo>
                    <a:pt x="0" y="0"/>
                  </a:moveTo>
                  <a:lnTo>
                    <a:pt x="31686624" y="0"/>
                  </a:lnTo>
                  <a:lnTo>
                    <a:pt x="31686624" y="13734062"/>
                  </a:lnTo>
                  <a:lnTo>
                    <a:pt x="0" y="13734062"/>
                  </a:lnTo>
                  <a:close/>
                </a:path>
              </a:pathLst>
            </a:custGeom>
            <a:solidFill>
              <a:srgbClr val="99B951"/>
            </a:solidFill>
          </p:spPr>
          <p:txBody>
            <a:bodyPr/>
            <a:lstStyle/>
            <a:p>
              <a:endParaRPr lang="en-GB"/>
            </a:p>
          </p:txBody>
        </p:sp>
      </p:grpSp>
      <p:grpSp>
        <p:nvGrpSpPr>
          <p:cNvPr id="23" name="Group 23"/>
          <p:cNvGrpSpPr/>
          <p:nvPr/>
        </p:nvGrpSpPr>
        <p:grpSpPr>
          <a:xfrm>
            <a:off x="9905965" y="4562950"/>
            <a:ext cx="446868" cy="446868"/>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2954"/>
            </a:solidFill>
          </p:spPr>
          <p:txBody>
            <a:bodyPr/>
            <a:lstStyle/>
            <a:p>
              <a:endParaRPr lang="en-GB"/>
            </a:p>
          </p:txBody>
        </p:sp>
        <p:sp>
          <p:nvSpPr>
            <p:cNvPr id="25" name="TextBox 25"/>
            <p:cNvSpPr txBox="1"/>
            <p:nvPr/>
          </p:nvSpPr>
          <p:spPr>
            <a:xfrm>
              <a:off x="76200" y="0"/>
              <a:ext cx="660400" cy="736600"/>
            </a:xfrm>
            <a:prstGeom prst="rect">
              <a:avLst/>
            </a:prstGeom>
          </p:spPr>
          <p:txBody>
            <a:bodyPr lIns="50800" tIns="50800" rIns="50800" bIns="50800" rtlCol="0" anchor="ctr"/>
            <a:lstStyle/>
            <a:p>
              <a:pPr algn="ctr">
                <a:lnSpc>
                  <a:spcPts val="2520"/>
                </a:lnSpc>
              </a:pPr>
              <a:endParaRPr/>
            </a:p>
          </p:txBody>
        </p:sp>
      </p:grpSp>
      <p:sp>
        <p:nvSpPr>
          <p:cNvPr id="26" name="TextBox 26"/>
          <p:cNvSpPr txBox="1"/>
          <p:nvPr/>
        </p:nvSpPr>
        <p:spPr>
          <a:xfrm>
            <a:off x="9987055" y="508524"/>
            <a:ext cx="8153190" cy="3597705"/>
          </a:xfrm>
          <a:prstGeom prst="rect">
            <a:avLst/>
          </a:prstGeom>
        </p:spPr>
        <p:txBody>
          <a:bodyPr lIns="0" tIns="0" rIns="0" bIns="0" rtlCol="0" anchor="t">
            <a:spAutoFit/>
          </a:bodyPr>
          <a:lstStyle/>
          <a:p>
            <a:pPr algn="l">
              <a:lnSpc>
                <a:spcPts val="4200"/>
              </a:lnSpc>
            </a:pPr>
            <a:r>
              <a:rPr lang="en-US" sz="3000">
                <a:solidFill>
                  <a:srgbClr val="192954"/>
                </a:solidFill>
                <a:latin typeface="Times New Roman"/>
                <a:ea typeface="Times New Roman"/>
                <a:cs typeface="Times New Roman"/>
                <a:sym typeface="Times New Roman"/>
              </a:rPr>
              <a:t>The SDGs are 17 international goals established by the United Nations in 2015 to tackle pressing global issues like poverty, inequality, climate change, environmental degradation, peace, and justice by the year 2030.</a:t>
            </a:r>
          </a:p>
          <a:p>
            <a:pPr algn="l">
              <a:lnSpc>
                <a:spcPts val="3452"/>
              </a:lnSpc>
            </a:pPr>
            <a:endParaRPr lang="en-US" sz="3000">
              <a:solidFill>
                <a:srgbClr val="192954"/>
              </a:solidFill>
              <a:latin typeface="Times New Roman"/>
              <a:ea typeface="Times New Roman"/>
              <a:cs typeface="Times New Roman"/>
              <a:sym typeface="Times New Roman"/>
            </a:endParaRPr>
          </a:p>
          <a:p>
            <a:pPr algn="l">
              <a:lnSpc>
                <a:spcPts val="3452"/>
              </a:lnSpc>
              <a:spcBef>
                <a:spcPct val="0"/>
              </a:spcBef>
            </a:pPr>
            <a:endParaRPr lang="en-US" sz="3000">
              <a:solidFill>
                <a:srgbClr val="192954"/>
              </a:solidFill>
              <a:latin typeface="Times New Roman"/>
              <a:ea typeface="Times New Roman"/>
              <a:cs typeface="Times New Roman"/>
              <a:sym typeface="Times New Roman"/>
            </a:endParaRPr>
          </a:p>
        </p:txBody>
      </p:sp>
      <p:sp>
        <p:nvSpPr>
          <p:cNvPr id="27" name="TextBox 27"/>
          <p:cNvSpPr txBox="1"/>
          <p:nvPr/>
        </p:nvSpPr>
        <p:spPr>
          <a:xfrm>
            <a:off x="-38315" y="9414014"/>
            <a:ext cx="7514904" cy="788382"/>
          </a:xfrm>
          <a:prstGeom prst="rect">
            <a:avLst/>
          </a:prstGeom>
        </p:spPr>
        <p:txBody>
          <a:bodyPr lIns="0" tIns="0" rIns="0" bIns="0" rtlCol="0" anchor="t">
            <a:spAutoFit/>
          </a:bodyPr>
          <a:lstStyle/>
          <a:p>
            <a:pPr algn="l">
              <a:lnSpc>
                <a:spcPts val="1525"/>
              </a:lnSpc>
            </a:pPr>
            <a:r>
              <a:rPr lang="en-US" sz="1452" b="1">
                <a:solidFill>
                  <a:srgbClr val="000000"/>
                </a:solidFill>
                <a:latin typeface="Times New Roman Bold"/>
                <a:ea typeface="Times New Roman Bold"/>
                <a:cs typeface="Times New Roman Bold"/>
                <a:sym typeface="Times New Roman Bold"/>
              </a:rPr>
              <a:t>Fig 3.The Global Goals</a:t>
            </a:r>
          </a:p>
          <a:p>
            <a:pPr algn="l">
              <a:lnSpc>
                <a:spcPts val="1525"/>
              </a:lnSpc>
            </a:pPr>
            <a:r>
              <a:rPr lang="en-US" sz="1452" b="1">
                <a:solidFill>
                  <a:srgbClr val="000000"/>
                </a:solidFill>
                <a:latin typeface="Times New Roman Bold"/>
                <a:ea typeface="Times New Roman Bold"/>
                <a:cs typeface="Times New Roman Bold"/>
                <a:sym typeface="Times New Roman Bold"/>
              </a:rPr>
              <a:t>Source: https://commons.wikimedia.org/wiki/File:The_Global_Goals_Icon_Color_18.png</a:t>
            </a:r>
          </a:p>
          <a:p>
            <a:pPr algn="l">
              <a:lnSpc>
                <a:spcPts val="1525"/>
              </a:lnSpc>
            </a:pPr>
            <a:r>
              <a:rPr lang="en-US" sz="1452" b="1">
                <a:solidFill>
                  <a:srgbClr val="000000"/>
                </a:solidFill>
                <a:latin typeface="Times New Roman Bold"/>
                <a:ea typeface="Times New Roman Bold"/>
                <a:cs typeface="Times New Roman Bold"/>
                <a:sym typeface="Times New Roman Bold"/>
              </a:rPr>
              <a:t>Fig 4.The Sustainable Development Goals in Bangladesh</a:t>
            </a:r>
          </a:p>
          <a:p>
            <a:pPr algn="l">
              <a:lnSpc>
                <a:spcPts val="1525"/>
              </a:lnSpc>
              <a:spcBef>
                <a:spcPct val="0"/>
              </a:spcBef>
            </a:pPr>
            <a:r>
              <a:rPr lang="en-US" sz="1452" b="1">
                <a:solidFill>
                  <a:srgbClr val="000000"/>
                </a:solidFill>
                <a:latin typeface="Times New Roman Bold"/>
                <a:ea typeface="Times New Roman Bold"/>
                <a:cs typeface="Times New Roman Bold"/>
                <a:sym typeface="Times New Roman Bold"/>
              </a:rPr>
              <a:t>Source: https://bangladesh.un.org/en/sdgs</a:t>
            </a:r>
          </a:p>
        </p:txBody>
      </p:sp>
      <p:sp>
        <p:nvSpPr>
          <p:cNvPr id="28" name="TextBox 28"/>
          <p:cNvSpPr txBox="1"/>
          <p:nvPr/>
        </p:nvSpPr>
        <p:spPr>
          <a:xfrm>
            <a:off x="9911376" y="4420075"/>
            <a:ext cx="3298765" cy="673100"/>
          </a:xfrm>
          <a:prstGeom prst="rect">
            <a:avLst/>
          </a:prstGeom>
        </p:spPr>
        <p:txBody>
          <a:bodyPr lIns="0" tIns="0" rIns="0" bIns="0" rtlCol="0" anchor="t">
            <a:spAutoFit/>
          </a:bodyPr>
          <a:lstStyle/>
          <a:p>
            <a:pPr algn="ctr">
              <a:lnSpc>
                <a:spcPts val="4900"/>
              </a:lnSpc>
            </a:pPr>
            <a:r>
              <a:rPr lang="en-US" sz="3500" b="1">
                <a:solidFill>
                  <a:srgbClr val="000000"/>
                </a:solidFill>
                <a:latin typeface="Times New Roman Bold"/>
                <a:ea typeface="Times New Roman Bold"/>
                <a:cs typeface="Times New Roman Bold"/>
                <a:sym typeface="Times New Roman Bold"/>
              </a:rPr>
              <a:t>Key SDGs :</a:t>
            </a:r>
          </a:p>
        </p:txBody>
      </p:sp>
      <p:sp>
        <p:nvSpPr>
          <p:cNvPr id="29" name="TextBox 29"/>
          <p:cNvSpPr txBox="1"/>
          <p:nvPr/>
        </p:nvSpPr>
        <p:spPr>
          <a:xfrm>
            <a:off x="10581677" y="5379954"/>
            <a:ext cx="3258067" cy="469900"/>
          </a:xfrm>
          <a:prstGeom prst="rect">
            <a:avLst/>
          </a:prstGeom>
        </p:spPr>
        <p:txBody>
          <a:bodyPr lIns="0" tIns="0" rIns="0" bIns="0" rtlCol="0" anchor="t">
            <a:spAutoFit/>
          </a:bodyPr>
          <a:lstStyle/>
          <a:p>
            <a:pPr algn="ctr">
              <a:lnSpc>
                <a:spcPts val="3499"/>
              </a:lnSpc>
            </a:pPr>
            <a:r>
              <a:rPr lang="en-US" sz="2499" b="1">
                <a:solidFill>
                  <a:srgbClr val="000000"/>
                </a:solidFill>
                <a:latin typeface="Times New Roman Bold"/>
                <a:ea typeface="Times New Roman Bold"/>
                <a:cs typeface="Times New Roman Bold"/>
                <a:sym typeface="Times New Roman Bold"/>
              </a:rPr>
              <a:t>SDG 1 : </a:t>
            </a:r>
            <a:r>
              <a:rPr lang="en-US" sz="2499">
                <a:solidFill>
                  <a:srgbClr val="000000"/>
                </a:solidFill>
                <a:latin typeface="Times New Roman"/>
                <a:ea typeface="Times New Roman"/>
                <a:cs typeface="Times New Roman"/>
                <a:sym typeface="Times New Roman"/>
              </a:rPr>
              <a:t>No Poverty</a:t>
            </a:r>
          </a:p>
        </p:txBody>
      </p:sp>
      <p:sp>
        <p:nvSpPr>
          <p:cNvPr id="30" name="TextBox 30"/>
          <p:cNvSpPr txBox="1"/>
          <p:nvPr/>
        </p:nvSpPr>
        <p:spPr>
          <a:xfrm>
            <a:off x="10800752" y="5877302"/>
            <a:ext cx="5287555" cy="469900"/>
          </a:xfrm>
          <a:prstGeom prst="rect">
            <a:avLst/>
          </a:prstGeom>
        </p:spPr>
        <p:txBody>
          <a:bodyPr lIns="0" tIns="0" rIns="0" bIns="0" rtlCol="0" anchor="t">
            <a:spAutoFit/>
          </a:bodyPr>
          <a:lstStyle/>
          <a:p>
            <a:pPr algn="ctr">
              <a:lnSpc>
                <a:spcPts val="3499"/>
              </a:lnSpc>
            </a:pPr>
            <a:r>
              <a:rPr lang="en-US" sz="2499" b="1">
                <a:solidFill>
                  <a:srgbClr val="000000"/>
                </a:solidFill>
                <a:latin typeface="Times New Roman Bold"/>
                <a:ea typeface="Times New Roman Bold"/>
                <a:cs typeface="Times New Roman Bold"/>
                <a:sym typeface="Times New Roman Bold"/>
              </a:rPr>
              <a:t>SDG 3 : </a:t>
            </a:r>
            <a:r>
              <a:rPr lang="en-US" sz="2499">
                <a:solidFill>
                  <a:srgbClr val="000000"/>
                </a:solidFill>
                <a:latin typeface="Times New Roman"/>
                <a:ea typeface="Times New Roman"/>
                <a:cs typeface="Times New Roman"/>
                <a:sym typeface="Times New Roman"/>
              </a:rPr>
              <a:t>Good Health and Well-being</a:t>
            </a:r>
          </a:p>
        </p:txBody>
      </p:sp>
      <p:sp>
        <p:nvSpPr>
          <p:cNvPr id="31" name="TextBox 31"/>
          <p:cNvSpPr txBox="1"/>
          <p:nvPr/>
        </p:nvSpPr>
        <p:spPr>
          <a:xfrm>
            <a:off x="9682255" y="6375777"/>
            <a:ext cx="5812574" cy="469900"/>
          </a:xfrm>
          <a:prstGeom prst="rect">
            <a:avLst/>
          </a:prstGeom>
        </p:spPr>
        <p:txBody>
          <a:bodyPr lIns="0" tIns="0" rIns="0" bIns="0" rtlCol="0" anchor="t">
            <a:spAutoFit/>
          </a:bodyPr>
          <a:lstStyle/>
          <a:p>
            <a:pPr algn="ctr">
              <a:lnSpc>
                <a:spcPts val="3499"/>
              </a:lnSpc>
            </a:pPr>
            <a:r>
              <a:rPr lang="en-US" sz="2499" b="1">
                <a:solidFill>
                  <a:srgbClr val="000000"/>
                </a:solidFill>
                <a:latin typeface="Times New Roman Bold"/>
                <a:ea typeface="Times New Roman Bold"/>
                <a:cs typeface="Times New Roman Bold"/>
                <a:sym typeface="Times New Roman Bold"/>
              </a:rPr>
              <a:t>   SDG 4 : </a:t>
            </a:r>
            <a:r>
              <a:rPr lang="en-US" sz="2499">
                <a:solidFill>
                  <a:srgbClr val="000000"/>
                </a:solidFill>
                <a:latin typeface="Times New Roman"/>
                <a:ea typeface="Times New Roman"/>
                <a:cs typeface="Times New Roman"/>
                <a:sym typeface="Times New Roman"/>
              </a:rPr>
              <a:t>Quality Education</a:t>
            </a:r>
          </a:p>
        </p:txBody>
      </p:sp>
      <p:sp>
        <p:nvSpPr>
          <p:cNvPr id="32" name="TextBox 32"/>
          <p:cNvSpPr txBox="1"/>
          <p:nvPr/>
        </p:nvSpPr>
        <p:spPr>
          <a:xfrm>
            <a:off x="9682255" y="6839327"/>
            <a:ext cx="5725751" cy="469900"/>
          </a:xfrm>
          <a:prstGeom prst="rect">
            <a:avLst/>
          </a:prstGeom>
        </p:spPr>
        <p:txBody>
          <a:bodyPr lIns="0" tIns="0" rIns="0" bIns="0" rtlCol="0" anchor="t">
            <a:spAutoFit/>
          </a:bodyPr>
          <a:lstStyle/>
          <a:p>
            <a:pPr algn="ctr">
              <a:lnSpc>
                <a:spcPts val="3499"/>
              </a:lnSpc>
            </a:pPr>
            <a:r>
              <a:rPr lang="en-US" sz="2499" b="1">
                <a:solidFill>
                  <a:srgbClr val="000000"/>
                </a:solidFill>
                <a:latin typeface="Times New Roman Bold"/>
                <a:ea typeface="Times New Roman Bold"/>
                <a:cs typeface="Times New Roman Bold"/>
                <a:sym typeface="Times New Roman Bold"/>
              </a:rPr>
              <a:t>SDG 5 : </a:t>
            </a:r>
            <a:r>
              <a:rPr lang="en-US" sz="2499">
                <a:solidFill>
                  <a:srgbClr val="000000"/>
                </a:solidFill>
                <a:latin typeface="Times New Roman"/>
                <a:ea typeface="Times New Roman"/>
                <a:cs typeface="Times New Roman"/>
                <a:sym typeface="Times New Roman"/>
              </a:rPr>
              <a:t>Gender Equality</a:t>
            </a:r>
          </a:p>
        </p:txBody>
      </p:sp>
      <p:sp>
        <p:nvSpPr>
          <p:cNvPr id="33" name="TextBox 33"/>
          <p:cNvSpPr txBox="1"/>
          <p:nvPr/>
        </p:nvSpPr>
        <p:spPr>
          <a:xfrm>
            <a:off x="9905965" y="7337802"/>
            <a:ext cx="5130727" cy="469900"/>
          </a:xfrm>
          <a:prstGeom prst="rect">
            <a:avLst/>
          </a:prstGeom>
        </p:spPr>
        <p:txBody>
          <a:bodyPr lIns="0" tIns="0" rIns="0" bIns="0" rtlCol="0" anchor="t">
            <a:spAutoFit/>
          </a:bodyPr>
          <a:lstStyle/>
          <a:p>
            <a:pPr algn="ctr">
              <a:lnSpc>
                <a:spcPts val="3499"/>
              </a:lnSpc>
            </a:pPr>
            <a:r>
              <a:rPr lang="en-US" sz="2499" b="1">
                <a:solidFill>
                  <a:srgbClr val="000000"/>
                </a:solidFill>
                <a:latin typeface="Times New Roman Bold"/>
                <a:ea typeface="Times New Roman Bold"/>
                <a:cs typeface="Times New Roman Bold"/>
                <a:sym typeface="Times New Roman Bold"/>
              </a:rPr>
              <a:t>SDG 13: </a:t>
            </a:r>
            <a:r>
              <a:rPr lang="en-US" sz="2499">
                <a:solidFill>
                  <a:srgbClr val="000000"/>
                </a:solidFill>
                <a:latin typeface="Times New Roman"/>
                <a:ea typeface="Times New Roman"/>
                <a:cs typeface="Times New Roman"/>
                <a:sym typeface="Times New Roman"/>
              </a:rPr>
              <a:t>Climate Action</a:t>
            </a:r>
          </a:p>
        </p:txBody>
      </p:sp>
      <p:sp>
        <p:nvSpPr>
          <p:cNvPr id="34" name="AutoShape 34"/>
          <p:cNvSpPr/>
          <p:nvPr/>
        </p:nvSpPr>
        <p:spPr>
          <a:xfrm>
            <a:off x="9905965" y="5662529"/>
            <a:ext cx="675712" cy="0"/>
          </a:xfrm>
          <a:prstGeom prst="line">
            <a:avLst/>
          </a:prstGeom>
          <a:ln w="38100" cap="flat">
            <a:solidFill>
              <a:srgbClr val="000000"/>
            </a:solidFill>
            <a:prstDash val="solid"/>
            <a:headEnd type="none" w="sm" len="sm"/>
            <a:tailEnd type="arrow" w="med" len="sm"/>
          </a:ln>
        </p:spPr>
        <p:txBody>
          <a:bodyPr/>
          <a:lstStyle/>
          <a:p>
            <a:endParaRPr lang="en-GB"/>
          </a:p>
        </p:txBody>
      </p:sp>
      <p:sp>
        <p:nvSpPr>
          <p:cNvPr id="35" name="AutoShape 35"/>
          <p:cNvSpPr/>
          <p:nvPr/>
        </p:nvSpPr>
        <p:spPr>
          <a:xfrm>
            <a:off x="9905965" y="6199104"/>
            <a:ext cx="675712" cy="0"/>
          </a:xfrm>
          <a:prstGeom prst="line">
            <a:avLst/>
          </a:prstGeom>
          <a:ln w="38100" cap="flat">
            <a:solidFill>
              <a:srgbClr val="000000"/>
            </a:solidFill>
            <a:prstDash val="solid"/>
            <a:headEnd type="none" w="sm" len="sm"/>
            <a:tailEnd type="arrow" w="med" len="sm"/>
          </a:ln>
        </p:spPr>
        <p:txBody>
          <a:bodyPr/>
          <a:lstStyle/>
          <a:p>
            <a:endParaRPr lang="en-GB"/>
          </a:p>
        </p:txBody>
      </p:sp>
      <p:sp>
        <p:nvSpPr>
          <p:cNvPr id="36" name="AutoShape 36"/>
          <p:cNvSpPr/>
          <p:nvPr/>
        </p:nvSpPr>
        <p:spPr>
          <a:xfrm>
            <a:off x="9905965" y="6677402"/>
            <a:ext cx="675712" cy="0"/>
          </a:xfrm>
          <a:prstGeom prst="line">
            <a:avLst/>
          </a:prstGeom>
          <a:ln w="38100" cap="flat">
            <a:solidFill>
              <a:srgbClr val="000000"/>
            </a:solidFill>
            <a:prstDash val="solid"/>
            <a:headEnd type="none" w="sm" len="sm"/>
            <a:tailEnd type="arrow" w="med" len="sm"/>
          </a:ln>
        </p:spPr>
        <p:txBody>
          <a:bodyPr/>
          <a:lstStyle/>
          <a:p>
            <a:endParaRPr lang="en-GB"/>
          </a:p>
        </p:txBody>
      </p:sp>
      <p:sp>
        <p:nvSpPr>
          <p:cNvPr id="37" name="AutoShape 37"/>
          <p:cNvSpPr/>
          <p:nvPr/>
        </p:nvSpPr>
        <p:spPr>
          <a:xfrm>
            <a:off x="9905965" y="7121902"/>
            <a:ext cx="675712" cy="0"/>
          </a:xfrm>
          <a:prstGeom prst="line">
            <a:avLst/>
          </a:prstGeom>
          <a:ln w="38100" cap="flat">
            <a:solidFill>
              <a:srgbClr val="000000"/>
            </a:solidFill>
            <a:prstDash val="solid"/>
            <a:headEnd type="none" w="sm" len="sm"/>
            <a:tailEnd type="arrow" w="med" len="sm"/>
          </a:ln>
        </p:spPr>
        <p:txBody>
          <a:bodyPr/>
          <a:lstStyle/>
          <a:p>
            <a:endParaRPr lang="en-GB"/>
          </a:p>
        </p:txBody>
      </p:sp>
      <p:sp>
        <p:nvSpPr>
          <p:cNvPr id="38" name="AutoShape 38"/>
          <p:cNvSpPr/>
          <p:nvPr/>
        </p:nvSpPr>
        <p:spPr>
          <a:xfrm>
            <a:off x="9905965" y="7644529"/>
            <a:ext cx="675712" cy="0"/>
          </a:xfrm>
          <a:prstGeom prst="line">
            <a:avLst/>
          </a:prstGeom>
          <a:ln w="38100" cap="flat">
            <a:solidFill>
              <a:srgbClr val="000000"/>
            </a:solidFill>
            <a:prstDash val="solid"/>
            <a:headEnd type="none" w="sm" len="sm"/>
            <a:tailEnd type="arrow" w="med" len="sm"/>
          </a:ln>
        </p:spPr>
        <p:txBody>
          <a:bodyPr/>
          <a:lstStyle/>
          <a:p>
            <a:endParaRPr lang="en-GB"/>
          </a:p>
        </p:txBody>
      </p:sp>
      <p:grpSp>
        <p:nvGrpSpPr>
          <p:cNvPr id="39" name="Group 39"/>
          <p:cNvGrpSpPr/>
          <p:nvPr/>
        </p:nvGrpSpPr>
        <p:grpSpPr>
          <a:xfrm rot="5400000">
            <a:off x="-2965015" y="-3462622"/>
            <a:ext cx="8997039" cy="8982644"/>
            <a:chOff x="0" y="0"/>
            <a:chExt cx="6350000" cy="6339840"/>
          </a:xfrm>
        </p:grpSpPr>
        <p:sp>
          <p:nvSpPr>
            <p:cNvPr id="40" name="Freeform 40"/>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192954"/>
            </a:solidFill>
          </p:spPr>
          <p:txBody>
            <a:bodyPr/>
            <a:lstStyle/>
            <a:p>
              <a:endParaRPr lang="en-GB"/>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EFE1"/>
        </a:solidFill>
        <a:effectLst/>
      </p:bgPr>
    </p:bg>
    <p:spTree>
      <p:nvGrpSpPr>
        <p:cNvPr id="1" name=""/>
        <p:cNvGrpSpPr/>
        <p:nvPr/>
      </p:nvGrpSpPr>
      <p:grpSpPr>
        <a:xfrm>
          <a:off x="0" y="0"/>
          <a:ext cx="0" cy="0"/>
          <a:chOff x="0" y="0"/>
          <a:chExt cx="0" cy="0"/>
        </a:xfrm>
      </p:grpSpPr>
      <p:grpSp>
        <p:nvGrpSpPr>
          <p:cNvPr id="2" name="Group 2"/>
          <p:cNvGrpSpPr/>
          <p:nvPr/>
        </p:nvGrpSpPr>
        <p:grpSpPr>
          <a:xfrm rot="-9622901">
            <a:off x="9953722" y="-5805158"/>
            <a:ext cx="20124627" cy="8950886"/>
            <a:chOff x="0" y="0"/>
            <a:chExt cx="31686624" cy="14093347"/>
          </a:xfrm>
        </p:grpSpPr>
        <p:sp>
          <p:nvSpPr>
            <p:cNvPr id="3" name="Freeform 3"/>
            <p:cNvSpPr/>
            <p:nvPr/>
          </p:nvSpPr>
          <p:spPr>
            <a:xfrm>
              <a:off x="0" y="0"/>
              <a:ext cx="31686624" cy="14093346"/>
            </a:xfrm>
            <a:custGeom>
              <a:avLst/>
              <a:gdLst/>
              <a:ahLst/>
              <a:cxnLst/>
              <a:rect l="l" t="t" r="r" b="b"/>
              <a:pathLst>
                <a:path w="31686624" h="14093346">
                  <a:moveTo>
                    <a:pt x="0" y="0"/>
                  </a:moveTo>
                  <a:lnTo>
                    <a:pt x="31686624" y="0"/>
                  </a:lnTo>
                  <a:lnTo>
                    <a:pt x="31686624" y="14093346"/>
                  </a:lnTo>
                  <a:lnTo>
                    <a:pt x="0" y="14093346"/>
                  </a:lnTo>
                  <a:close/>
                </a:path>
              </a:pathLst>
            </a:custGeom>
            <a:solidFill>
              <a:srgbClr val="192954"/>
            </a:solidFill>
          </p:spPr>
          <p:txBody>
            <a:bodyPr/>
            <a:lstStyle/>
            <a:p>
              <a:endParaRPr lang="en-GB"/>
            </a:p>
          </p:txBody>
        </p:sp>
      </p:grpSp>
      <p:grpSp>
        <p:nvGrpSpPr>
          <p:cNvPr id="4" name="Group 4"/>
          <p:cNvGrpSpPr/>
          <p:nvPr/>
        </p:nvGrpSpPr>
        <p:grpSpPr>
          <a:xfrm rot="-7848167">
            <a:off x="-13304563" y="6459924"/>
            <a:ext cx="20124627" cy="8722700"/>
            <a:chOff x="0" y="0"/>
            <a:chExt cx="31686624" cy="13734063"/>
          </a:xfrm>
        </p:grpSpPr>
        <p:sp>
          <p:nvSpPr>
            <p:cNvPr id="5" name="Freeform 5"/>
            <p:cNvSpPr/>
            <p:nvPr/>
          </p:nvSpPr>
          <p:spPr>
            <a:xfrm>
              <a:off x="0" y="0"/>
              <a:ext cx="31686624" cy="13734062"/>
            </a:xfrm>
            <a:custGeom>
              <a:avLst/>
              <a:gdLst/>
              <a:ahLst/>
              <a:cxnLst/>
              <a:rect l="l" t="t" r="r" b="b"/>
              <a:pathLst>
                <a:path w="31686624" h="13734062">
                  <a:moveTo>
                    <a:pt x="0" y="0"/>
                  </a:moveTo>
                  <a:lnTo>
                    <a:pt x="31686624" y="0"/>
                  </a:lnTo>
                  <a:lnTo>
                    <a:pt x="31686624" y="13734062"/>
                  </a:lnTo>
                  <a:lnTo>
                    <a:pt x="0" y="13734062"/>
                  </a:lnTo>
                  <a:close/>
                </a:path>
              </a:pathLst>
            </a:custGeom>
            <a:solidFill>
              <a:srgbClr val="192954"/>
            </a:solidFill>
          </p:spPr>
          <p:txBody>
            <a:bodyPr/>
            <a:lstStyle/>
            <a:p>
              <a:endParaRPr lang="en-GB"/>
            </a:p>
          </p:txBody>
        </p:sp>
      </p:grpSp>
      <p:sp>
        <p:nvSpPr>
          <p:cNvPr id="6" name="Freeform 6"/>
          <p:cNvSpPr/>
          <p:nvPr/>
        </p:nvSpPr>
        <p:spPr>
          <a:xfrm>
            <a:off x="8901578" y="354516"/>
            <a:ext cx="9140499" cy="5680658"/>
          </a:xfrm>
          <a:custGeom>
            <a:avLst/>
            <a:gdLst/>
            <a:ahLst/>
            <a:cxnLst/>
            <a:rect l="l" t="t" r="r" b="b"/>
            <a:pathLst>
              <a:path w="9140499" h="5680658">
                <a:moveTo>
                  <a:pt x="0" y="0"/>
                </a:moveTo>
                <a:lnTo>
                  <a:pt x="9140500" y="0"/>
                </a:lnTo>
                <a:lnTo>
                  <a:pt x="9140500" y="5680657"/>
                </a:lnTo>
                <a:lnTo>
                  <a:pt x="0" y="5680657"/>
                </a:lnTo>
                <a:lnTo>
                  <a:pt x="0" y="0"/>
                </a:lnTo>
                <a:close/>
              </a:path>
            </a:pathLst>
          </a:custGeom>
          <a:blipFill>
            <a:blip r:embed="rId2"/>
            <a:stretch>
              <a:fillRect t="-1015" r="-7932" b="-1015"/>
            </a:stretch>
          </a:blipFill>
        </p:spPr>
        <p:txBody>
          <a:bodyPr/>
          <a:lstStyle/>
          <a:p>
            <a:endParaRPr lang="en-GB"/>
          </a:p>
        </p:txBody>
      </p:sp>
      <p:grpSp>
        <p:nvGrpSpPr>
          <p:cNvPr id="7" name="Group 7"/>
          <p:cNvGrpSpPr/>
          <p:nvPr/>
        </p:nvGrpSpPr>
        <p:grpSpPr>
          <a:xfrm rot="8100000">
            <a:off x="9038335" y="8529373"/>
            <a:ext cx="20124627" cy="8722700"/>
            <a:chOff x="0" y="0"/>
            <a:chExt cx="31686624" cy="13734063"/>
          </a:xfrm>
        </p:grpSpPr>
        <p:sp>
          <p:nvSpPr>
            <p:cNvPr id="8" name="Freeform 8"/>
            <p:cNvSpPr/>
            <p:nvPr/>
          </p:nvSpPr>
          <p:spPr>
            <a:xfrm>
              <a:off x="0" y="0"/>
              <a:ext cx="31686624" cy="13734062"/>
            </a:xfrm>
            <a:custGeom>
              <a:avLst/>
              <a:gdLst/>
              <a:ahLst/>
              <a:cxnLst/>
              <a:rect l="l" t="t" r="r" b="b"/>
              <a:pathLst>
                <a:path w="31686624" h="13734062">
                  <a:moveTo>
                    <a:pt x="0" y="0"/>
                  </a:moveTo>
                  <a:lnTo>
                    <a:pt x="31686624" y="0"/>
                  </a:lnTo>
                  <a:lnTo>
                    <a:pt x="31686624" y="13734062"/>
                  </a:lnTo>
                  <a:lnTo>
                    <a:pt x="0" y="13734062"/>
                  </a:lnTo>
                  <a:close/>
                </a:path>
              </a:pathLst>
            </a:custGeom>
            <a:solidFill>
              <a:srgbClr val="99B951"/>
            </a:solidFill>
          </p:spPr>
          <p:txBody>
            <a:bodyPr/>
            <a:lstStyle/>
            <a:p>
              <a:endParaRPr lang="en-GB"/>
            </a:p>
          </p:txBody>
        </p:sp>
      </p:grpSp>
      <p:grpSp>
        <p:nvGrpSpPr>
          <p:cNvPr id="9" name="Group 9"/>
          <p:cNvGrpSpPr/>
          <p:nvPr/>
        </p:nvGrpSpPr>
        <p:grpSpPr>
          <a:xfrm rot="5400000">
            <a:off x="-2596698" y="-3846343"/>
            <a:ext cx="8997039" cy="8982644"/>
            <a:chOff x="0" y="0"/>
            <a:chExt cx="6350000" cy="6339840"/>
          </a:xfrm>
        </p:grpSpPr>
        <p:sp>
          <p:nvSpPr>
            <p:cNvPr id="10" name="Freeform 10"/>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99B951"/>
            </a:solidFill>
          </p:spPr>
          <p:txBody>
            <a:bodyPr/>
            <a:lstStyle/>
            <a:p>
              <a:endParaRPr lang="en-GB"/>
            </a:p>
          </p:txBody>
        </p:sp>
      </p:grpSp>
      <p:grpSp>
        <p:nvGrpSpPr>
          <p:cNvPr id="11" name="Group 11"/>
          <p:cNvGrpSpPr/>
          <p:nvPr/>
        </p:nvGrpSpPr>
        <p:grpSpPr>
          <a:xfrm>
            <a:off x="209867" y="4126653"/>
            <a:ext cx="514138" cy="514138"/>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2954"/>
            </a:solidFill>
          </p:spPr>
          <p:txBody>
            <a:bodyPr/>
            <a:lstStyle/>
            <a:p>
              <a:endParaRPr lang="en-GB"/>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sp>
        <p:nvSpPr>
          <p:cNvPr id="14" name="TextBox 14"/>
          <p:cNvSpPr txBox="1"/>
          <p:nvPr/>
        </p:nvSpPr>
        <p:spPr>
          <a:xfrm>
            <a:off x="13758928" y="9770110"/>
            <a:ext cx="4673283" cy="516890"/>
          </a:xfrm>
          <a:prstGeom prst="rect">
            <a:avLst/>
          </a:prstGeom>
        </p:spPr>
        <p:txBody>
          <a:bodyPr lIns="0" tIns="0" rIns="0" bIns="0" rtlCol="0" anchor="t">
            <a:spAutoFit/>
          </a:bodyPr>
          <a:lstStyle/>
          <a:p>
            <a:pPr algn="l">
              <a:lnSpc>
                <a:spcPts val="1960"/>
              </a:lnSpc>
            </a:pPr>
            <a:r>
              <a:rPr lang="en-US" sz="1400" spc="28">
                <a:solidFill>
                  <a:srgbClr val="000000"/>
                </a:solidFill>
                <a:latin typeface="Times New Roman"/>
                <a:ea typeface="Times New Roman"/>
                <a:cs typeface="Times New Roman"/>
                <a:sym typeface="Times New Roman"/>
              </a:rPr>
              <a:t>fig 5.Bashundhara City Complex,Dhaka,Bangladesh</a:t>
            </a:r>
          </a:p>
          <a:p>
            <a:pPr algn="l">
              <a:lnSpc>
                <a:spcPts val="1960"/>
              </a:lnSpc>
              <a:spcBef>
                <a:spcPct val="0"/>
              </a:spcBef>
            </a:pPr>
            <a:r>
              <a:rPr lang="en-US" sz="1400" spc="28">
                <a:solidFill>
                  <a:srgbClr val="000000"/>
                </a:solidFill>
                <a:latin typeface="Times New Roman"/>
                <a:ea typeface="Times New Roman"/>
                <a:cs typeface="Times New Roman"/>
                <a:sym typeface="Times New Roman"/>
              </a:rPr>
              <a:t>Source: https://en.wikipedia.org/wiki/Bashundhara_City</a:t>
            </a:r>
          </a:p>
        </p:txBody>
      </p:sp>
      <p:sp>
        <p:nvSpPr>
          <p:cNvPr id="15" name="TextBox 15"/>
          <p:cNvSpPr txBox="1"/>
          <p:nvPr/>
        </p:nvSpPr>
        <p:spPr>
          <a:xfrm>
            <a:off x="-489805" y="244201"/>
            <a:ext cx="9525000" cy="823559"/>
          </a:xfrm>
          <a:prstGeom prst="rect">
            <a:avLst/>
          </a:prstGeom>
        </p:spPr>
        <p:txBody>
          <a:bodyPr wrap="square" lIns="0" tIns="0" rIns="0" bIns="0" rtlCol="0" anchor="t">
            <a:spAutoFit/>
          </a:bodyPr>
          <a:lstStyle/>
          <a:p>
            <a:pPr algn="ctr">
              <a:lnSpc>
                <a:spcPts val="7000"/>
              </a:lnSpc>
            </a:pPr>
            <a:r>
              <a:rPr lang="en-US" sz="5000" b="1" dirty="0">
                <a:solidFill>
                  <a:srgbClr val="000000"/>
                </a:solidFill>
                <a:latin typeface="Times New Roman Bold"/>
                <a:ea typeface="Times New Roman Bold"/>
                <a:cs typeface="Times New Roman Bold"/>
                <a:sym typeface="Times New Roman Bold"/>
              </a:rPr>
              <a:t>Why concentrate on Bangladesh?</a:t>
            </a:r>
          </a:p>
        </p:txBody>
      </p:sp>
      <p:sp>
        <p:nvSpPr>
          <p:cNvPr id="16" name="TextBox 16"/>
          <p:cNvSpPr txBox="1"/>
          <p:nvPr/>
        </p:nvSpPr>
        <p:spPr>
          <a:xfrm>
            <a:off x="561369" y="1466201"/>
            <a:ext cx="7988707" cy="2327077"/>
          </a:xfrm>
          <a:prstGeom prst="rect">
            <a:avLst/>
          </a:prstGeom>
        </p:spPr>
        <p:txBody>
          <a:bodyPr lIns="0" tIns="0" rIns="0" bIns="0" rtlCol="0" anchor="t">
            <a:spAutoFit/>
          </a:bodyPr>
          <a:lstStyle/>
          <a:p>
            <a:pPr algn="l">
              <a:lnSpc>
                <a:spcPts val="4560"/>
              </a:lnSpc>
            </a:pPr>
            <a:r>
              <a:rPr lang="en-US" sz="3257" dirty="0">
                <a:solidFill>
                  <a:srgbClr val="000000"/>
                </a:solidFill>
                <a:latin typeface="Times New Roman"/>
                <a:ea typeface="Times New Roman"/>
                <a:cs typeface="Times New Roman"/>
                <a:sym typeface="Times New Roman"/>
              </a:rPr>
              <a:t>Focus on its significant advancements regarding poverty reduction and women's empowerment and on the challenges faced in reaching the SDGs.</a:t>
            </a:r>
          </a:p>
        </p:txBody>
      </p:sp>
      <p:sp>
        <p:nvSpPr>
          <p:cNvPr id="17" name="TextBox 17"/>
          <p:cNvSpPr txBox="1"/>
          <p:nvPr/>
        </p:nvSpPr>
        <p:spPr>
          <a:xfrm>
            <a:off x="0" y="3930713"/>
            <a:ext cx="4533900" cy="741229"/>
          </a:xfrm>
          <a:prstGeom prst="rect">
            <a:avLst/>
          </a:prstGeom>
        </p:spPr>
        <p:txBody>
          <a:bodyPr wrap="square" lIns="0" tIns="0" rIns="0" bIns="0" rtlCol="0" anchor="t">
            <a:spAutoFit/>
          </a:bodyPr>
          <a:lstStyle/>
          <a:p>
            <a:pPr algn="ctr">
              <a:lnSpc>
                <a:spcPts val="6299"/>
              </a:lnSpc>
            </a:pPr>
            <a:r>
              <a:rPr lang="en-US" sz="4500" b="1" dirty="0">
                <a:solidFill>
                  <a:srgbClr val="000000"/>
                </a:solidFill>
                <a:latin typeface="Times New Roman Bold"/>
                <a:ea typeface="Times New Roman Bold"/>
                <a:cs typeface="Times New Roman Bold"/>
                <a:sym typeface="Times New Roman Bold"/>
              </a:rPr>
              <a:t>Key Reason</a:t>
            </a:r>
          </a:p>
        </p:txBody>
      </p:sp>
      <p:sp>
        <p:nvSpPr>
          <p:cNvPr id="18" name="TextBox 18"/>
          <p:cNvSpPr txBox="1"/>
          <p:nvPr/>
        </p:nvSpPr>
        <p:spPr>
          <a:xfrm>
            <a:off x="1028700" y="5038725"/>
            <a:ext cx="7491686" cy="1023736"/>
          </a:xfrm>
          <a:prstGeom prst="rect">
            <a:avLst/>
          </a:prstGeom>
        </p:spPr>
        <p:txBody>
          <a:bodyPr lIns="0" tIns="0" rIns="0" bIns="0" rtlCol="0" anchor="t">
            <a:spAutoFit/>
          </a:bodyPr>
          <a:lstStyle/>
          <a:p>
            <a:pPr algn="l">
              <a:lnSpc>
                <a:spcPts val="3948"/>
              </a:lnSpc>
            </a:pPr>
            <a:r>
              <a:rPr lang="en-US" sz="2820" dirty="0">
                <a:solidFill>
                  <a:srgbClr val="000000"/>
                </a:solidFill>
                <a:latin typeface="Times New Roman"/>
                <a:ea typeface="Times New Roman"/>
                <a:cs typeface="Times New Roman"/>
                <a:sym typeface="Times New Roman"/>
              </a:rPr>
              <a:t>Bangladesh is a developing nation in South Asia with over 160 million people.</a:t>
            </a:r>
          </a:p>
        </p:txBody>
      </p:sp>
      <p:sp>
        <p:nvSpPr>
          <p:cNvPr id="19" name="AutoShape 19"/>
          <p:cNvSpPr/>
          <p:nvPr/>
        </p:nvSpPr>
        <p:spPr>
          <a:xfrm>
            <a:off x="209867" y="5583931"/>
            <a:ext cx="675712" cy="0"/>
          </a:xfrm>
          <a:prstGeom prst="line">
            <a:avLst/>
          </a:prstGeom>
          <a:ln w="38100" cap="flat">
            <a:solidFill>
              <a:srgbClr val="000000"/>
            </a:solidFill>
            <a:prstDash val="solid"/>
            <a:headEnd type="none" w="sm" len="sm"/>
            <a:tailEnd type="arrow" w="med" len="sm"/>
          </a:ln>
        </p:spPr>
        <p:txBody>
          <a:bodyPr/>
          <a:lstStyle/>
          <a:p>
            <a:endParaRPr lang="en-GB"/>
          </a:p>
        </p:txBody>
      </p:sp>
      <p:sp>
        <p:nvSpPr>
          <p:cNvPr id="20" name="TextBox 20"/>
          <p:cNvSpPr txBox="1"/>
          <p:nvPr/>
        </p:nvSpPr>
        <p:spPr>
          <a:xfrm>
            <a:off x="1019255" y="6159601"/>
            <a:ext cx="10747777" cy="1023747"/>
          </a:xfrm>
          <a:prstGeom prst="rect">
            <a:avLst/>
          </a:prstGeom>
        </p:spPr>
        <p:txBody>
          <a:bodyPr lIns="0" tIns="0" rIns="0" bIns="0" rtlCol="0" anchor="t">
            <a:spAutoFit/>
          </a:bodyPr>
          <a:lstStyle/>
          <a:p>
            <a:pPr algn="l">
              <a:lnSpc>
                <a:spcPts val="3948"/>
              </a:lnSpc>
            </a:pPr>
            <a:r>
              <a:rPr lang="en-US" sz="2820">
                <a:solidFill>
                  <a:srgbClr val="000000"/>
                </a:solidFill>
                <a:latin typeface="Times New Roman"/>
                <a:ea typeface="Times New Roman"/>
                <a:cs typeface="Times New Roman"/>
                <a:sym typeface="Times New Roman"/>
              </a:rPr>
              <a:t>The overall performance in SDGs of all 193 Member states Bangladesh's Ranking is 107, with a score of 64.35.</a:t>
            </a:r>
          </a:p>
        </p:txBody>
      </p:sp>
      <p:sp>
        <p:nvSpPr>
          <p:cNvPr id="21" name="AutoShape 21"/>
          <p:cNvSpPr/>
          <p:nvPr/>
        </p:nvSpPr>
        <p:spPr>
          <a:xfrm>
            <a:off x="209867" y="6662536"/>
            <a:ext cx="675712" cy="0"/>
          </a:xfrm>
          <a:prstGeom prst="line">
            <a:avLst/>
          </a:prstGeom>
          <a:ln w="38100" cap="flat">
            <a:solidFill>
              <a:srgbClr val="000000"/>
            </a:solidFill>
            <a:prstDash val="solid"/>
            <a:headEnd type="none" w="sm" len="sm"/>
            <a:tailEnd type="arrow" w="med" len="sm"/>
          </a:ln>
        </p:spPr>
        <p:txBody>
          <a:bodyPr/>
          <a:lstStyle/>
          <a:p>
            <a:endParaRPr lang="en-GB"/>
          </a:p>
        </p:txBody>
      </p:sp>
      <p:sp>
        <p:nvSpPr>
          <p:cNvPr id="22" name="TextBox 22"/>
          <p:cNvSpPr txBox="1"/>
          <p:nvPr/>
        </p:nvSpPr>
        <p:spPr>
          <a:xfrm>
            <a:off x="1028700" y="7307173"/>
            <a:ext cx="13384057" cy="1023747"/>
          </a:xfrm>
          <a:prstGeom prst="rect">
            <a:avLst/>
          </a:prstGeom>
        </p:spPr>
        <p:txBody>
          <a:bodyPr lIns="0" tIns="0" rIns="0" bIns="0" rtlCol="0" anchor="t">
            <a:spAutoFit/>
          </a:bodyPr>
          <a:lstStyle/>
          <a:p>
            <a:pPr algn="l">
              <a:lnSpc>
                <a:spcPts val="3948"/>
              </a:lnSpc>
            </a:pPr>
            <a:r>
              <a:rPr lang="en-US" sz="2820">
                <a:solidFill>
                  <a:srgbClr val="000000"/>
                </a:solidFill>
                <a:latin typeface="Times New Roman"/>
                <a:ea typeface="Times New Roman"/>
                <a:cs typeface="Times New Roman"/>
                <a:sym typeface="Times New Roman"/>
              </a:rPr>
              <a:t>It has fast economic development but deep-seated poverty and vulnerability to climate change.</a:t>
            </a:r>
          </a:p>
        </p:txBody>
      </p:sp>
      <p:sp>
        <p:nvSpPr>
          <p:cNvPr id="23" name="AutoShape 23"/>
          <p:cNvSpPr/>
          <p:nvPr/>
        </p:nvSpPr>
        <p:spPr>
          <a:xfrm>
            <a:off x="209867" y="7738861"/>
            <a:ext cx="675712" cy="0"/>
          </a:xfrm>
          <a:prstGeom prst="line">
            <a:avLst/>
          </a:prstGeom>
          <a:ln w="38100" cap="flat">
            <a:solidFill>
              <a:srgbClr val="000000"/>
            </a:solidFill>
            <a:prstDash val="solid"/>
            <a:headEnd type="none" w="sm" len="sm"/>
            <a:tailEnd type="arrow" w="med" len="sm"/>
          </a:ln>
        </p:spPr>
        <p:txBody>
          <a:bodyPr/>
          <a:lstStyle/>
          <a:p>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EFE1"/>
        </a:solidFill>
        <a:effectLst/>
      </p:bgPr>
    </p:bg>
    <p:spTree>
      <p:nvGrpSpPr>
        <p:cNvPr id="1" name=""/>
        <p:cNvGrpSpPr/>
        <p:nvPr/>
      </p:nvGrpSpPr>
      <p:grpSpPr>
        <a:xfrm>
          <a:off x="0" y="0"/>
          <a:ext cx="0" cy="0"/>
          <a:chOff x="0" y="0"/>
          <a:chExt cx="0" cy="0"/>
        </a:xfrm>
      </p:grpSpPr>
      <p:grpSp>
        <p:nvGrpSpPr>
          <p:cNvPr id="2" name="Group 2"/>
          <p:cNvGrpSpPr/>
          <p:nvPr/>
        </p:nvGrpSpPr>
        <p:grpSpPr>
          <a:xfrm rot="7734263">
            <a:off x="9187096" y="8790561"/>
            <a:ext cx="20124627" cy="8722700"/>
            <a:chOff x="0" y="0"/>
            <a:chExt cx="31686624" cy="13734063"/>
          </a:xfrm>
        </p:grpSpPr>
        <p:sp>
          <p:nvSpPr>
            <p:cNvPr id="3" name="Freeform 3"/>
            <p:cNvSpPr/>
            <p:nvPr/>
          </p:nvSpPr>
          <p:spPr>
            <a:xfrm>
              <a:off x="0" y="0"/>
              <a:ext cx="31686624" cy="13734062"/>
            </a:xfrm>
            <a:custGeom>
              <a:avLst/>
              <a:gdLst/>
              <a:ahLst/>
              <a:cxnLst/>
              <a:rect l="l" t="t" r="r" b="b"/>
              <a:pathLst>
                <a:path w="31686624" h="13734062">
                  <a:moveTo>
                    <a:pt x="0" y="0"/>
                  </a:moveTo>
                  <a:lnTo>
                    <a:pt x="31686624" y="0"/>
                  </a:lnTo>
                  <a:lnTo>
                    <a:pt x="31686624" y="13734062"/>
                  </a:lnTo>
                  <a:lnTo>
                    <a:pt x="0" y="13734062"/>
                  </a:lnTo>
                  <a:close/>
                </a:path>
              </a:pathLst>
            </a:custGeom>
            <a:solidFill>
              <a:srgbClr val="99B951"/>
            </a:solidFill>
          </p:spPr>
          <p:txBody>
            <a:bodyPr/>
            <a:lstStyle/>
            <a:p>
              <a:endParaRPr lang="en-GB"/>
            </a:p>
          </p:txBody>
        </p:sp>
      </p:grpSp>
      <p:grpSp>
        <p:nvGrpSpPr>
          <p:cNvPr id="4" name="Group 4"/>
          <p:cNvGrpSpPr/>
          <p:nvPr/>
        </p:nvGrpSpPr>
        <p:grpSpPr>
          <a:xfrm rot="-8763950">
            <a:off x="-17903966" y="-8453557"/>
            <a:ext cx="20124627" cy="8722700"/>
            <a:chOff x="0" y="0"/>
            <a:chExt cx="31686624" cy="13734063"/>
          </a:xfrm>
        </p:grpSpPr>
        <p:sp>
          <p:nvSpPr>
            <p:cNvPr id="5" name="Freeform 5"/>
            <p:cNvSpPr/>
            <p:nvPr/>
          </p:nvSpPr>
          <p:spPr>
            <a:xfrm>
              <a:off x="0" y="0"/>
              <a:ext cx="31686624" cy="13734062"/>
            </a:xfrm>
            <a:custGeom>
              <a:avLst/>
              <a:gdLst/>
              <a:ahLst/>
              <a:cxnLst/>
              <a:rect l="l" t="t" r="r" b="b"/>
              <a:pathLst>
                <a:path w="31686624" h="13734062">
                  <a:moveTo>
                    <a:pt x="0" y="0"/>
                  </a:moveTo>
                  <a:lnTo>
                    <a:pt x="31686624" y="0"/>
                  </a:lnTo>
                  <a:lnTo>
                    <a:pt x="31686624" y="13734062"/>
                  </a:lnTo>
                  <a:lnTo>
                    <a:pt x="0" y="13734062"/>
                  </a:lnTo>
                  <a:close/>
                </a:path>
              </a:pathLst>
            </a:custGeom>
            <a:solidFill>
              <a:srgbClr val="99B951"/>
            </a:solidFill>
          </p:spPr>
          <p:txBody>
            <a:bodyPr/>
            <a:lstStyle/>
            <a:p>
              <a:endParaRPr lang="en-GB"/>
            </a:p>
          </p:txBody>
        </p:sp>
      </p:grpSp>
      <p:grpSp>
        <p:nvGrpSpPr>
          <p:cNvPr id="6" name="Group 6"/>
          <p:cNvGrpSpPr/>
          <p:nvPr/>
        </p:nvGrpSpPr>
        <p:grpSpPr>
          <a:xfrm>
            <a:off x="1436628" y="-1701456"/>
            <a:ext cx="4141295" cy="9531417"/>
            <a:chOff x="0" y="0"/>
            <a:chExt cx="3130550" cy="7205132"/>
          </a:xfrm>
        </p:grpSpPr>
        <p:sp>
          <p:nvSpPr>
            <p:cNvPr id="7" name="Freeform 7"/>
            <p:cNvSpPr/>
            <p:nvPr/>
          </p:nvSpPr>
          <p:spPr>
            <a:xfrm>
              <a:off x="0" y="0"/>
              <a:ext cx="3130550" cy="7205132"/>
            </a:xfrm>
            <a:custGeom>
              <a:avLst/>
              <a:gdLst/>
              <a:ahLst/>
              <a:cxnLst/>
              <a:rect l="l" t="t" r="r" b="b"/>
              <a:pathLst>
                <a:path w="3130550" h="7205132">
                  <a:moveTo>
                    <a:pt x="0" y="1123950"/>
                  </a:moveTo>
                  <a:lnTo>
                    <a:pt x="0" y="7205132"/>
                  </a:lnTo>
                  <a:lnTo>
                    <a:pt x="3130550" y="7205132"/>
                  </a:lnTo>
                  <a:lnTo>
                    <a:pt x="3130550" y="0"/>
                  </a:lnTo>
                  <a:close/>
                </a:path>
              </a:pathLst>
            </a:custGeom>
            <a:solidFill>
              <a:srgbClr val="192954"/>
            </a:solidFill>
          </p:spPr>
          <p:txBody>
            <a:bodyPr/>
            <a:lstStyle/>
            <a:p>
              <a:endParaRPr lang="en-GB"/>
            </a:p>
          </p:txBody>
        </p:sp>
      </p:grpSp>
      <p:sp>
        <p:nvSpPr>
          <p:cNvPr id="8" name="Freeform 8"/>
          <p:cNvSpPr/>
          <p:nvPr/>
        </p:nvSpPr>
        <p:spPr>
          <a:xfrm>
            <a:off x="-1642363" y="1428750"/>
            <a:ext cx="9167772" cy="4802232"/>
          </a:xfrm>
          <a:custGeom>
            <a:avLst/>
            <a:gdLst/>
            <a:ahLst/>
            <a:cxnLst/>
            <a:rect l="l" t="t" r="r" b="b"/>
            <a:pathLst>
              <a:path w="9167772" h="4802232">
                <a:moveTo>
                  <a:pt x="0" y="0"/>
                </a:moveTo>
                <a:lnTo>
                  <a:pt x="9167772" y="0"/>
                </a:lnTo>
                <a:lnTo>
                  <a:pt x="9167772" y="4802232"/>
                </a:lnTo>
                <a:lnTo>
                  <a:pt x="0" y="4802232"/>
                </a:lnTo>
                <a:lnTo>
                  <a:pt x="0" y="0"/>
                </a:lnTo>
                <a:close/>
              </a:path>
            </a:pathLst>
          </a:custGeom>
          <a:blipFill>
            <a:blip r:embed="rId2"/>
            <a:stretch>
              <a:fillRect l="-22888" r="-1829" b="-4166"/>
            </a:stretch>
          </a:blipFill>
        </p:spPr>
        <p:txBody>
          <a:bodyPr/>
          <a:lstStyle/>
          <a:p>
            <a:endParaRPr lang="en-GB"/>
          </a:p>
        </p:txBody>
      </p:sp>
      <p:grpSp>
        <p:nvGrpSpPr>
          <p:cNvPr id="9" name="Group 9"/>
          <p:cNvGrpSpPr/>
          <p:nvPr/>
        </p:nvGrpSpPr>
        <p:grpSpPr>
          <a:xfrm>
            <a:off x="7766648" y="1820783"/>
            <a:ext cx="319478" cy="323166"/>
            <a:chOff x="0" y="0"/>
            <a:chExt cx="84142" cy="85114"/>
          </a:xfrm>
        </p:grpSpPr>
        <p:sp>
          <p:nvSpPr>
            <p:cNvPr id="10" name="Freeform 10"/>
            <p:cNvSpPr/>
            <p:nvPr/>
          </p:nvSpPr>
          <p:spPr>
            <a:xfrm>
              <a:off x="0" y="0"/>
              <a:ext cx="84142" cy="85114"/>
            </a:xfrm>
            <a:custGeom>
              <a:avLst/>
              <a:gdLst/>
              <a:ahLst/>
              <a:cxnLst/>
              <a:rect l="l" t="t" r="r" b="b"/>
              <a:pathLst>
                <a:path w="84142" h="85114">
                  <a:moveTo>
                    <a:pt x="0" y="0"/>
                  </a:moveTo>
                  <a:lnTo>
                    <a:pt x="84142" y="0"/>
                  </a:lnTo>
                  <a:lnTo>
                    <a:pt x="84142" y="85114"/>
                  </a:lnTo>
                  <a:lnTo>
                    <a:pt x="0" y="85114"/>
                  </a:lnTo>
                  <a:close/>
                </a:path>
              </a:pathLst>
            </a:custGeom>
            <a:solidFill>
              <a:srgbClr val="192954"/>
            </a:solidFill>
          </p:spPr>
          <p:txBody>
            <a:bodyPr/>
            <a:lstStyle/>
            <a:p>
              <a:endParaRPr lang="en-GB"/>
            </a:p>
          </p:txBody>
        </p:sp>
        <p:sp>
          <p:nvSpPr>
            <p:cNvPr id="11" name="TextBox 11"/>
            <p:cNvSpPr txBox="1"/>
            <p:nvPr/>
          </p:nvSpPr>
          <p:spPr>
            <a:xfrm>
              <a:off x="0" y="-38100"/>
              <a:ext cx="84142" cy="123214"/>
            </a:xfrm>
            <a:prstGeom prst="rect">
              <a:avLst/>
            </a:prstGeom>
          </p:spPr>
          <p:txBody>
            <a:bodyPr lIns="50800" tIns="50800" rIns="50800" bIns="50800" rtlCol="0" anchor="ctr"/>
            <a:lstStyle/>
            <a:p>
              <a:pPr algn="ctr">
                <a:lnSpc>
                  <a:spcPts val="2520"/>
                </a:lnSpc>
              </a:pPr>
              <a:endParaRPr/>
            </a:p>
          </p:txBody>
        </p:sp>
      </p:grpSp>
      <p:sp>
        <p:nvSpPr>
          <p:cNvPr id="12" name="TextBox 12"/>
          <p:cNvSpPr txBox="1"/>
          <p:nvPr/>
        </p:nvSpPr>
        <p:spPr>
          <a:xfrm>
            <a:off x="5956274" y="-28575"/>
            <a:ext cx="12530005" cy="1457325"/>
          </a:xfrm>
          <a:prstGeom prst="rect">
            <a:avLst/>
          </a:prstGeom>
        </p:spPr>
        <p:txBody>
          <a:bodyPr lIns="0" tIns="0" rIns="0" bIns="0" rtlCol="0" anchor="t">
            <a:spAutoFit/>
          </a:bodyPr>
          <a:lstStyle/>
          <a:p>
            <a:pPr algn="ctr">
              <a:lnSpc>
                <a:spcPts val="5250"/>
              </a:lnSpc>
            </a:pPr>
            <a:r>
              <a:rPr lang="en-US" sz="5000" b="1">
                <a:solidFill>
                  <a:srgbClr val="000000"/>
                </a:solidFill>
                <a:latin typeface="Times New Roman Bold"/>
                <a:ea typeface="Times New Roman Bold"/>
                <a:cs typeface="Times New Roman Bold"/>
                <a:sym typeface="Times New Roman Bold"/>
              </a:rPr>
              <a:t>"Challenges Facing Bangladesh in the Implementation of SDGs"</a:t>
            </a:r>
          </a:p>
        </p:txBody>
      </p:sp>
      <p:sp>
        <p:nvSpPr>
          <p:cNvPr id="13" name="TextBox 13"/>
          <p:cNvSpPr txBox="1"/>
          <p:nvPr/>
        </p:nvSpPr>
        <p:spPr>
          <a:xfrm>
            <a:off x="0" y="9707880"/>
            <a:ext cx="5065642" cy="579120"/>
          </a:xfrm>
          <a:prstGeom prst="rect">
            <a:avLst/>
          </a:prstGeom>
        </p:spPr>
        <p:txBody>
          <a:bodyPr lIns="0" tIns="0" rIns="0" bIns="0" rtlCol="0" anchor="t">
            <a:spAutoFit/>
          </a:bodyPr>
          <a:lstStyle/>
          <a:p>
            <a:pPr algn="l">
              <a:lnSpc>
                <a:spcPts val="1470"/>
              </a:lnSpc>
            </a:pPr>
            <a:r>
              <a:rPr lang="en-US" sz="1400" b="1">
                <a:solidFill>
                  <a:srgbClr val="000000"/>
                </a:solidFill>
                <a:latin typeface="Times New Roman Bold"/>
                <a:ea typeface="Times New Roman Bold"/>
                <a:cs typeface="Times New Roman Bold"/>
                <a:sym typeface="Times New Roman Bold"/>
              </a:rPr>
              <a:t>Fig 6.Living on a ‘Dead’ river on Bangladesh</a:t>
            </a:r>
          </a:p>
          <a:p>
            <a:pPr algn="l">
              <a:lnSpc>
                <a:spcPts val="1470"/>
              </a:lnSpc>
              <a:spcBef>
                <a:spcPct val="0"/>
              </a:spcBef>
            </a:pPr>
            <a:r>
              <a:rPr lang="en-US" sz="1400" b="1">
                <a:solidFill>
                  <a:srgbClr val="000000"/>
                </a:solidFill>
                <a:latin typeface="Times New Roman Bold"/>
                <a:ea typeface="Times New Roman Bold"/>
                <a:cs typeface="Times New Roman Bold"/>
                <a:sym typeface="Times New Roman Bold"/>
              </a:rPr>
              <a:t>Source: https://www.dw.com/en/living-on-a-dead-river-in-bangladesh/g-65395105</a:t>
            </a:r>
          </a:p>
        </p:txBody>
      </p:sp>
      <p:sp>
        <p:nvSpPr>
          <p:cNvPr id="14" name="TextBox 14"/>
          <p:cNvSpPr txBox="1"/>
          <p:nvPr/>
        </p:nvSpPr>
        <p:spPr>
          <a:xfrm>
            <a:off x="8327365" y="1629942"/>
            <a:ext cx="3940835" cy="494110"/>
          </a:xfrm>
          <a:prstGeom prst="rect">
            <a:avLst/>
          </a:prstGeom>
        </p:spPr>
        <p:txBody>
          <a:bodyPr wrap="square" lIns="0" tIns="0" rIns="0" bIns="0" rtlCol="0" anchor="t">
            <a:spAutoFit/>
          </a:bodyPr>
          <a:lstStyle/>
          <a:p>
            <a:pPr algn="ctr">
              <a:lnSpc>
                <a:spcPts val="4200"/>
              </a:lnSpc>
            </a:pPr>
            <a:r>
              <a:rPr lang="en-US" sz="3000" b="1" dirty="0">
                <a:solidFill>
                  <a:srgbClr val="000000"/>
                </a:solidFill>
                <a:latin typeface="Times New Roman Bold"/>
                <a:ea typeface="Times New Roman Bold"/>
                <a:cs typeface="Times New Roman Bold"/>
                <a:sym typeface="Times New Roman Bold"/>
              </a:rPr>
              <a:t>Poverty and Inequality </a:t>
            </a:r>
          </a:p>
        </p:txBody>
      </p:sp>
      <p:sp>
        <p:nvSpPr>
          <p:cNvPr id="15" name="TextBox 15"/>
          <p:cNvSpPr txBox="1"/>
          <p:nvPr/>
        </p:nvSpPr>
        <p:spPr>
          <a:xfrm>
            <a:off x="9022513" y="2028828"/>
            <a:ext cx="9265487" cy="1346200"/>
          </a:xfrm>
          <a:prstGeom prst="rect">
            <a:avLst/>
          </a:prstGeom>
        </p:spPr>
        <p:txBody>
          <a:bodyPr lIns="0" tIns="0" rIns="0" bIns="0" rtlCol="0" anchor="t">
            <a:spAutoFit/>
          </a:bodyPr>
          <a:lstStyle/>
          <a:p>
            <a:pPr algn="l">
              <a:lnSpc>
                <a:spcPts val="3499"/>
              </a:lnSpc>
            </a:pPr>
            <a:r>
              <a:rPr lang="en-US" sz="2499">
                <a:solidFill>
                  <a:srgbClr val="000000"/>
                </a:solidFill>
                <a:latin typeface="Times New Roman"/>
                <a:ea typeface="Times New Roman"/>
                <a:cs typeface="Times New Roman"/>
                <a:sym typeface="Times New Roman"/>
              </a:rPr>
              <a:t>Despite progress, the population remains the majority below the poverty line, and income disparity is still an issue.</a:t>
            </a:r>
          </a:p>
          <a:p>
            <a:pPr algn="l">
              <a:lnSpc>
                <a:spcPts val="3499"/>
              </a:lnSpc>
            </a:pPr>
            <a:endParaRPr lang="en-US" sz="2499">
              <a:solidFill>
                <a:srgbClr val="000000"/>
              </a:solidFill>
              <a:latin typeface="Times New Roman"/>
              <a:ea typeface="Times New Roman"/>
              <a:cs typeface="Times New Roman"/>
              <a:sym typeface="Times New Roman"/>
            </a:endParaRPr>
          </a:p>
        </p:txBody>
      </p:sp>
      <p:sp>
        <p:nvSpPr>
          <p:cNvPr id="16" name="TextBox 16"/>
          <p:cNvSpPr txBox="1"/>
          <p:nvPr/>
        </p:nvSpPr>
        <p:spPr>
          <a:xfrm>
            <a:off x="8327365" y="2821344"/>
            <a:ext cx="2950235" cy="494110"/>
          </a:xfrm>
          <a:prstGeom prst="rect">
            <a:avLst/>
          </a:prstGeom>
        </p:spPr>
        <p:txBody>
          <a:bodyPr wrap="square" lIns="0" tIns="0" rIns="0" bIns="0" rtlCol="0" anchor="t">
            <a:spAutoFit/>
          </a:bodyPr>
          <a:lstStyle/>
          <a:p>
            <a:pPr algn="ctr">
              <a:lnSpc>
                <a:spcPts val="4200"/>
              </a:lnSpc>
            </a:pPr>
            <a:r>
              <a:rPr lang="en-US" sz="3000" b="1" dirty="0">
                <a:solidFill>
                  <a:srgbClr val="000000"/>
                </a:solidFill>
                <a:latin typeface="Times New Roman Bold"/>
                <a:ea typeface="Times New Roman Bold"/>
                <a:cs typeface="Times New Roman Bold"/>
                <a:sym typeface="Times New Roman Bold"/>
              </a:rPr>
              <a:t>Climate Change</a:t>
            </a:r>
          </a:p>
        </p:txBody>
      </p:sp>
      <p:sp>
        <p:nvSpPr>
          <p:cNvPr id="17" name="TextBox 17"/>
          <p:cNvSpPr txBox="1"/>
          <p:nvPr/>
        </p:nvSpPr>
        <p:spPr>
          <a:xfrm>
            <a:off x="8327365" y="4425266"/>
            <a:ext cx="3255035" cy="494110"/>
          </a:xfrm>
          <a:prstGeom prst="rect">
            <a:avLst/>
          </a:prstGeom>
        </p:spPr>
        <p:txBody>
          <a:bodyPr wrap="square" lIns="0" tIns="0" rIns="0" bIns="0" rtlCol="0" anchor="t">
            <a:spAutoFit/>
          </a:bodyPr>
          <a:lstStyle/>
          <a:p>
            <a:pPr algn="ctr">
              <a:lnSpc>
                <a:spcPts val="4200"/>
              </a:lnSpc>
            </a:pPr>
            <a:r>
              <a:rPr lang="en-US" sz="3000" b="1" dirty="0">
                <a:solidFill>
                  <a:srgbClr val="000000"/>
                </a:solidFill>
                <a:latin typeface="Times New Roman Bold"/>
                <a:ea typeface="Times New Roman Bold"/>
                <a:cs typeface="Times New Roman Bold"/>
                <a:sym typeface="Times New Roman Bold"/>
              </a:rPr>
              <a:t>Political Instability</a:t>
            </a:r>
          </a:p>
        </p:txBody>
      </p:sp>
      <p:sp>
        <p:nvSpPr>
          <p:cNvPr id="18" name="TextBox 18"/>
          <p:cNvSpPr txBox="1"/>
          <p:nvPr/>
        </p:nvSpPr>
        <p:spPr>
          <a:xfrm>
            <a:off x="8327365" y="5607763"/>
            <a:ext cx="7217435" cy="494110"/>
          </a:xfrm>
          <a:prstGeom prst="rect">
            <a:avLst/>
          </a:prstGeom>
        </p:spPr>
        <p:txBody>
          <a:bodyPr wrap="square" lIns="0" tIns="0" rIns="0" bIns="0" rtlCol="0" anchor="t">
            <a:spAutoFit/>
          </a:bodyPr>
          <a:lstStyle/>
          <a:p>
            <a:pPr algn="ctr">
              <a:lnSpc>
                <a:spcPts val="4200"/>
              </a:lnSpc>
            </a:pPr>
            <a:r>
              <a:rPr lang="en-US" sz="3000" b="1" dirty="0">
                <a:solidFill>
                  <a:srgbClr val="000000"/>
                </a:solidFill>
                <a:latin typeface="Times New Roman Bold"/>
                <a:ea typeface="Times New Roman Bold"/>
                <a:cs typeface="Times New Roman Bold"/>
                <a:sym typeface="Times New Roman Bold"/>
              </a:rPr>
              <a:t>Access to Quality Healthcare and Education</a:t>
            </a:r>
          </a:p>
        </p:txBody>
      </p:sp>
      <p:sp>
        <p:nvSpPr>
          <p:cNvPr id="19" name="TextBox 19"/>
          <p:cNvSpPr txBox="1"/>
          <p:nvPr/>
        </p:nvSpPr>
        <p:spPr>
          <a:xfrm>
            <a:off x="8327365" y="6788863"/>
            <a:ext cx="2605371" cy="494110"/>
          </a:xfrm>
          <a:prstGeom prst="rect">
            <a:avLst/>
          </a:prstGeom>
        </p:spPr>
        <p:txBody>
          <a:bodyPr wrap="square" lIns="0" tIns="0" rIns="0" bIns="0" rtlCol="0" anchor="t">
            <a:spAutoFit/>
          </a:bodyPr>
          <a:lstStyle/>
          <a:p>
            <a:pPr algn="ctr">
              <a:lnSpc>
                <a:spcPts val="4200"/>
              </a:lnSpc>
            </a:pPr>
            <a:r>
              <a:rPr lang="en-US" sz="3000" b="1" dirty="0">
                <a:solidFill>
                  <a:srgbClr val="000000"/>
                </a:solidFill>
                <a:latin typeface="Times New Roman Bold"/>
                <a:ea typeface="Times New Roman Bold"/>
                <a:cs typeface="Times New Roman Bold"/>
                <a:sym typeface="Times New Roman Bold"/>
              </a:rPr>
              <a:t>Overpopulation </a:t>
            </a:r>
          </a:p>
        </p:txBody>
      </p:sp>
      <p:sp>
        <p:nvSpPr>
          <p:cNvPr id="20" name="TextBox 20"/>
          <p:cNvSpPr txBox="1"/>
          <p:nvPr/>
        </p:nvSpPr>
        <p:spPr>
          <a:xfrm>
            <a:off x="9022513" y="3202891"/>
            <a:ext cx="9995843" cy="1346200"/>
          </a:xfrm>
          <a:prstGeom prst="rect">
            <a:avLst/>
          </a:prstGeom>
        </p:spPr>
        <p:txBody>
          <a:bodyPr lIns="0" tIns="0" rIns="0" bIns="0" rtlCol="0" anchor="t">
            <a:spAutoFit/>
          </a:bodyPr>
          <a:lstStyle/>
          <a:p>
            <a:pPr algn="l">
              <a:lnSpc>
                <a:spcPts val="3499"/>
              </a:lnSpc>
            </a:pPr>
            <a:r>
              <a:rPr lang="en-US" sz="2499" dirty="0">
                <a:solidFill>
                  <a:srgbClr val="000000"/>
                </a:solidFill>
                <a:latin typeface="Times New Roman"/>
                <a:ea typeface="Times New Roman"/>
                <a:cs typeface="Times New Roman"/>
                <a:sym typeface="Times New Roman"/>
              </a:rPr>
              <a:t>Bangladesh is extremely vulnerable to the impacts of climate change like flooding, cyclones, and sea-level rise, which pose threats to agriculture and livelihoods.</a:t>
            </a:r>
          </a:p>
        </p:txBody>
      </p:sp>
      <p:sp>
        <p:nvSpPr>
          <p:cNvPr id="21" name="TextBox 21"/>
          <p:cNvSpPr txBox="1"/>
          <p:nvPr/>
        </p:nvSpPr>
        <p:spPr>
          <a:xfrm>
            <a:off x="8965953" y="4823538"/>
            <a:ext cx="9322047" cy="908050"/>
          </a:xfrm>
          <a:prstGeom prst="rect">
            <a:avLst/>
          </a:prstGeom>
        </p:spPr>
        <p:txBody>
          <a:bodyPr lIns="0" tIns="0" rIns="0" bIns="0" rtlCol="0" anchor="t">
            <a:spAutoFit/>
          </a:bodyPr>
          <a:lstStyle/>
          <a:p>
            <a:pPr algn="l">
              <a:lnSpc>
                <a:spcPts val="3499"/>
              </a:lnSpc>
            </a:pPr>
            <a:r>
              <a:rPr lang="en-US" sz="2499" dirty="0">
                <a:solidFill>
                  <a:srgbClr val="000000"/>
                </a:solidFill>
                <a:latin typeface="Times New Roman"/>
                <a:ea typeface="Times New Roman"/>
                <a:cs typeface="Times New Roman"/>
                <a:sym typeface="Times New Roman"/>
              </a:rPr>
              <a:t>Political instability and governance issues can hamper SDG implementation.</a:t>
            </a:r>
          </a:p>
        </p:txBody>
      </p:sp>
      <p:sp>
        <p:nvSpPr>
          <p:cNvPr id="22" name="TextBox 22"/>
          <p:cNvSpPr txBox="1"/>
          <p:nvPr/>
        </p:nvSpPr>
        <p:spPr>
          <a:xfrm>
            <a:off x="8965953" y="6007813"/>
            <a:ext cx="9200560" cy="908050"/>
          </a:xfrm>
          <a:prstGeom prst="rect">
            <a:avLst/>
          </a:prstGeom>
        </p:spPr>
        <p:txBody>
          <a:bodyPr lIns="0" tIns="0" rIns="0" bIns="0" rtlCol="0" anchor="t">
            <a:spAutoFit/>
          </a:bodyPr>
          <a:lstStyle/>
          <a:p>
            <a:pPr algn="l">
              <a:lnSpc>
                <a:spcPts val="3499"/>
              </a:lnSpc>
            </a:pPr>
            <a:r>
              <a:rPr lang="en-US" sz="2499" dirty="0">
                <a:solidFill>
                  <a:srgbClr val="000000"/>
                </a:solidFill>
                <a:latin typeface="Times New Roman"/>
                <a:ea typeface="Times New Roman"/>
                <a:cs typeface="Times New Roman"/>
                <a:sym typeface="Times New Roman"/>
              </a:rPr>
              <a:t>There has been progress, but inequalities still exist, particularly in rural areas.</a:t>
            </a:r>
          </a:p>
        </p:txBody>
      </p:sp>
      <p:sp>
        <p:nvSpPr>
          <p:cNvPr id="23" name="TextBox 23"/>
          <p:cNvSpPr txBox="1"/>
          <p:nvPr/>
        </p:nvSpPr>
        <p:spPr>
          <a:xfrm>
            <a:off x="8965953" y="7328311"/>
            <a:ext cx="9144000" cy="908050"/>
          </a:xfrm>
          <a:prstGeom prst="rect">
            <a:avLst/>
          </a:prstGeom>
        </p:spPr>
        <p:txBody>
          <a:bodyPr lIns="0" tIns="0" rIns="0" bIns="0" rtlCol="0" anchor="t">
            <a:spAutoFit/>
          </a:bodyPr>
          <a:lstStyle/>
          <a:p>
            <a:pPr algn="l">
              <a:lnSpc>
                <a:spcPts val="3499"/>
              </a:lnSpc>
            </a:pPr>
            <a:r>
              <a:rPr lang="en-US" sz="2499">
                <a:solidFill>
                  <a:srgbClr val="000000"/>
                </a:solidFill>
                <a:latin typeface="Times New Roman"/>
                <a:ea typeface="Times New Roman"/>
                <a:cs typeface="Times New Roman"/>
                <a:sym typeface="Times New Roman"/>
              </a:rPr>
              <a:t>Uncontrolled population growth overloads resources, infrastructure, and services.</a:t>
            </a:r>
          </a:p>
        </p:txBody>
      </p:sp>
      <p:grpSp>
        <p:nvGrpSpPr>
          <p:cNvPr id="24" name="Group 24"/>
          <p:cNvGrpSpPr/>
          <p:nvPr/>
        </p:nvGrpSpPr>
        <p:grpSpPr>
          <a:xfrm>
            <a:off x="7766648" y="3012186"/>
            <a:ext cx="319478" cy="323166"/>
            <a:chOff x="0" y="0"/>
            <a:chExt cx="84142" cy="85114"/>
          </a:xfrm>
        </p:grpSpPr>
        <p:sp>
          <p:nvSpPr>
            <p:cNvPr id="25" name="Freeform 25"/>
            <p:cNvSpPr/>
            <p:nvPr/>
          </p:nvSpPr>
          <p:spPr>
            <a:xfrm>
              <a:off x="0" y="0"/>
              <a:ext cx="84142" cy="85114"/>
            </a:xfrm>
            <a:custGeom>
              <a:avLst/>
              <a:gdLst/>
              <a:ahLst/>
              <a:cxnLst/>
              <a:rect l="l" t="t" r="r" b="b"/>
              <a:pathLst>
                <a:path w="84142" h="85114">
                  <a:moveTo>
                    <a:pt x="0" y="0"/>
                  </a:moveTo>
                  <a:lnTo>
                    <a:pt x="84142" y="0"/>
                  </a:lnTo>
                  <a:lnTo>
                    <a:pt x="84142" y="85114"/>
                  </a:lnTo>
                  <a:lnTo>
                    <a:pt x="0" y="85114"/>
                  </a:lnTo>
                  <a:close/>
                </a:path>
              </a:pathLst>
            </a:custGeom>
            <a:solidFill>
              <a:srgbClr val="192954"/>
            </a:solidFill>
          </p:spPr>
          <p:txBody>
            <a:bodyPr/>
            <a:lstStyle/>
            <a:p>
              <a:endParaRPr lang="en-GB"/>
            </a:p>
          </p:txBody>
        </p:sp>
        <p:sp>
          <p:nvSpPr>
            <p:cNvPr id="26" name="TextBox 26"/>
            <p:cNvSpPr txBox="1"/>
            <p:nvPr/>
          </p:nvSpPr>
          <p:spPr>
            <a:xfrm>
              <a:off x="0" y="-38100"/>
              <a:ext cx="84142" cy="123214"/>
            </a:xfrm>
            <a:prstGeom prst="rect">
              <a:avLst/>
            </a:prstGeom>
          </p:spPr>
          <p:txBody>
            <a:bodyPr lIns="50800" tIns="50800" rIns="50800" bIns="50800" rtlCol="0" anchor="ctr"/>
            <a:lstStyle/>
            <a:p>
              <a:pPr algn="ctr">
                <a:lnSpc>
                  <a:spcPts val="2520"/>
                </a:lnSpc>
              </a:pPr>
              <a:endParaRPr/>
            </a:p>
          </p:txBody>
        </p:sp>
      </p:grpSp>
      <p:grpSp>
        <p:nvGrpSpPr>
          <p:cNvPr id="27" name="Group 27"/>
          <p:cNvGrpSpPr/>
          <p:nvPr/>
        </p:nvGrpSpPr>
        <p:grpSpPr>
          <a:xfrm>
            <a:off x="7766648" y="4549091"/>
            <a:ext cx="319478" cy="323166"/>
            <a:chOff x="0" y="0"/>
            <a:chExt cx="84142" cy="85114"/>
          </a:xfrm>
        </p:grpSpPr>
        <p:sp>
          <p:nvSpPr>
            <p:cNvPr id="28" name="Freeform 28"/>
            <p:cNvSpPr/>
            <p:nvPr/>
          </p:nvSpPr>
          <p:spPr>
            <a:xfrm>
              <a:off x="0" y="0"/>
              <a:ext cx="84142" cy="85114"/>
            </a:xfrm>
            <a:custGeom>
              <a:avLst/>
              <a:gdLst/>
              <a:ahLst/>
              <a:cxnLst/>
              <a:rect l="l" t="t" r="r" b="b"/>
              <a:pathLst>
                <a:path w="84142" h="85114">
                  <a:moveTo>
                    <a:pt x="0" y="0"/>
                  </a:moveTo>
                  <a:lnTo>
                    <a:pt x="84142" y="0"/>
                  </a:lnTo>
                  <a:lnTo>
                    <a:pt x="84142" y="85114"/>
                  </a:lnTo>
                  <a:lnTo>
                    <a:pt x="0" y="85114"/>
                  </a:lnTo>
                  <a:close/>
                </a:path>
              </a:pathLst>
            </a:custGeom>
            <a:solidFill>
              <a:srgbClr val="192954"/>
            </a:solidFill>
          </p:spPr>
          <p:txBody>
            <a:bodyPr/>
            <a:lstStyle/>
            <a:p>
              <a:endParaRPr lang="en-GB"/>
            </a:p>
          </p:txBody>
        </p:sp>
        <p:sp>
          <p:nvSpPr>
            <p:cNvPr id="29" name="TextBox 29"/>
            <p:cNvSpPr txBox="1"/>
            <p:nvPr/>
          </p:nvSpPr>
          <p:spPr>
            <a:xfrm>
              <a:off x="0" y="-38100"/>
              <a:ext cx="84142" cy="123214"/>
            </a:xfrm>
            <a:prstGeom prst="rect">
              <a:avLst/>
            </a:prstGeom>
          </p:spPr>
          <p:txBody>
            <a:bodyPr lIns="50800" tIns="50800" rIns="50800" bIns="50800" rtlCol="0" anchor="ctr"/>
            <a:lstStyle/>
            <a:p>
              <a:pPr algn="ctr">
                <a:lnSpc>
                  <a:spcPts val="2520"/>
                </a:lnSpc>
              </a:pPr>
              <a:endParaRPr/>
            </a:p>
          </p:txBody>
        </p:sp>
      </p:grpSp>
      <p:grpSp>
        <p:nvGrpSpPr>
          <p:cNvPr id="30" name="Group 30"/>
          <p:cNvGrpSpPr/>
          <p:nvPr/>
        </p:nvGrpSpPr>
        <p:grpSpPr>
          <a:xfrm>
            <a:off x="7766648" y="5798605"/>
            <a:ext cx="319478" cy="323166"/>
            <a:chOff x="0" y="0"/>
            <a:chExt cx="84142" cy="85114"/>
          </a:xfrm>
        </p:grpSpPr>
        <p:sp>
          <p:nvSpPr>
            <p:cNvPr id="31" name="Freeform 31"/>
            <p:cNvSpPr/>
            <p:nvPr/>
          </p:nvSpPr>
          <p:spPr>
            <a:xfrm>
              <a:off x="0" y="0"/>
              <a:ext cx="84142" cy="85114"/>
            </a:xfrm>
            <a:custGeom>
              <a:avLst/>
              <a:gdLst/>
              <a:ahLst/>
              <a:cxnLst/>
              <a:rect l="l" t="t" r="r" b="b"/>
              <a:pathLst>
                <a:path w="84142" h="85114">
                  <a:moveTo>
                    <a:pt x="0" y="0"/>
                  </a:moveTo>
                  <a:lnTo>
                    <a:pt x="84142" y="0"/>
                  </a:lnTo>
                  <a:lnTo>
                    <a:pt x="84142" y="85114"/>
                  </a:lnTo>
                  <a:lnTo>
                    <a:pt x="0" y="85114"/>
                  </a:lnTo>
                  <a:close/>
                </a:path>
              </a:pathLst>
            </a:custGeom>
            <a:solidFill>
              <a:srgbClr val="192954"/>
            </a:solidFill>
          </p:spPr>
          <p:txBody>
            <a:bodyPr/>
            <a:lstStyle/>
            <a:p>
              <a:endParaRPr lang="en-GB"/>
            </a:p>
          </p:txBody>
        </p:sp>
        <p:sp>
          <p:nvSpPr>
            <p:cNvPr id="32" name="TextBox 32"/>
            <p:cNvSpPr txBox="1"/>
            <p:nvPr/>
          </p:nvSpPr>
          <p:spPr>
            <a:xfrm>
              <a:off x="0" y="-38100"/>
              <a:ext cx="84142" cy="123214"/>
            </a:xfrm>
            <a:prstGeom prst="rect">
              <a:avLst/>
            </a:prstGeom>
          </p:spPr>
          <p:txBody>
            <a:bodyPr lIns="50800" tIns="50800" rIns="50800" bIns="50800" rtlCol="0" anchor="ctr"/>
            <a:lstStyle/>
            <a:p>
              <a:pPr algn="ctr">
                <a:lnSpc>
                  <a:spcPts val="2520"/>
                </a:lnSpc>
              </a:pPr>
              <a:endParaRPr/>
            </a:p>
          </p:txBody>
        </p:sp>
      </p:grpSp>
      <p:grpSp>
        <p:nvGrpSpPr>
          <p:cNvPr id="33" name="Group 33"/>
          <p:cNvGrpSpPr/>
          <p:nvPr/>
        </p:nvGrpSpPr>
        <p:grpSpPr>
          <a:xfrm>
            <a:off x="7766648" y="6988546"/>
            <a:ext cx="319478" cy="323166"/>
            <a:chOff x="0" y="0"/>
            <a:chExt cx="84142" cy="85114"/>
          </a:xfrm>
        </p:grpSpPr>
        <p:sp>
          <p:nvSpPr>
            <p:cNvPr id="34" name="Freeform 34"/>
            <p:cNvSpPr/>
            <p:nvPr/>
          </p:nvSpPr>
          <p:spPr>
            <a:xfrm>
              <a:off x="0" y="0"/>
              <a:ext cx="84142" cy="85114"/>
            </a:xfrm>
            <a:custGeom>
              <a:avLst/>
              <a:gdLst/>
              <a:ahLst/>
              <a:cxnLst/>
              <a:rect l="l" t="t" r="r" b="b"/>
              <a:pathLst>
                <a:path w="84142" h="85114">
                  <a:moveTo>
                    <a:pt x="0" y="0"/>
                  </a:moveTo>
                  <a:lnTo>
                    <a:pt x="84142" y="0"/>
                  </a:lnTo>
                  <a:lnTo>
                    <a:pt x="84142" y="85114"/>
                  </a:lnTo>
                  <a:lnTo>
                    <a:pt x="0" y="85114"/>
                  </a:lnTo>
                  <a:close/>
                </a:path>
              </a:pathLst>
            </a:custGeom>
            <a:solidFill>
              <a:srgbClr val="192954"/>
            </a:solidFill>
          </p:spPr>
          <p:txBody>
            <a:bodyPr/>
            <a:lstStyle/>
            <a:p>
              <a:endParaRPr lang="en-GB"/>
            </a:p>
          </p:txBody>
        </p:sp>
        <p:sp>
          <p:nvSpPr>
            <p:cNvPr id="35" name="TextBox 35"/>
            <p:cNvSpPr txBox="1"/>
            <p:nvPr/>
          </p:nvSpPr>
          <p:spPr>
            <a:xfrm>
              <a:off x="0" y="-38100"/>
              <a:ext cx="84142" cy="123214"/>
            </a:xfrm>
            <a:prstGeom prst="rect">
              <a:avLst/>
            </a:prstGeom>
          </p:spPr>
          <p:txBody>
            <a:bodyPr lIns="50800" tIns="50800" rIns="50800" bIns="50800" rtlCol="0" anchor="ctr"/>
            <a:lstStyle/>
            <a:p>
              <a:pPr algn="ctr">
                <a:lnSpc>
                  <a:spcPts val="2520"/>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EFE1"/>
        </a:solidFill>
        <a:effectLst/>
      </p:bgPr>
    </p:bg>
    <p:spTree>
      <p:nvGrpSpPr>
        <p:cNvPr id="1" name=""/>
        <p:cNvGrpSpPr/>
        <p:nvPr/>
      </p:nvGrpSpPr>
      <p:grpSpPr>
        <a:xfrm>
          <a:off x="0" y="0"/>
          <a:ext cx="0" cy="0"/>
          <a:chOff x="0" y="0"/>
          <a:chExt cx="0" cy="0"/>
        </a:xfrm>
      </p:grpSpPr>
      <p:sp>
        <p:nvSpPr>
          <p:cNvPr id="2" name="TextBox 2"/>
          <p:cNvSpPr txBox="1"/>
          <p:nvPr/>
        </p:nvSpPr>
        <p:spPr>
          <a:xfrm>
            <a:off x="4246752" y="26482"/>
            <a:ext cx="12898248" cy="671274"/>
          </a:xfrm>
          <a:prstGeom prst="rect">
            <a:avLst/>
          </a:prstGeom>
        </p:spPr>
        <p:txBody>
          <a:bodyPr wrap="square" lIns="0" tIns="0" rIns="0" bIns="0" rtlCol="0" anchor="t">
            <a:spAutoFit/>
          </a:bodyPr>
          <a:lstStyle/>
          <a:p>
            <a:pPr algn="ctr">
              <a:lnSpc>
                <a:spcPts val="5730"/>
              </a:lnSpc>
            </a:pPr>
            <a:r>
              <a:rPr lang="en-US" sz="4093" b="1" dirty="0">
                <a:solidFill>
                  <a:srgbClr val="000000"/>
                </a:solidFill>
                <a:latin typeface="Times New Roman Bold"/>
                <a:ea typeface="Times New Roman Bold"/>
                <a:cs typeface="Times New Roman Bold"/>
                <a:sym typeface="Times New Roman Bold"/>
              </a:rPr>
              <a:t>Challenges in the Implementation of SDGs in Bangladesh</a:t>
            </a:r>
          </a:p>
        </p:txBody>
      </p:sp>
      <p:grpSp>
        <p:nvGrpSpPr>
          <p:cNvPr id="3" name="Group 3"/>
          <p:cNvGrpSpPr/>
          <p:nvPr/>
        </p:nvGrpSpPr>
        <p:grpSpPr>
          <a:xfrm rot="-9615125">
            <a:off x="-10348982" y="7591558"/>
            <a:ext cx="20124627" cy="8722700"/>
            <a:chOff x="0" y="0"/>
            <a:chExt cx="31686624" cy="13734063"/>
          </a:xfrm>
        </p:grpSpPr>
        <p:sp>
          <p:nvSpPr>
            <p:cNvPr id="4" name="Freeform 4"/>
            <p:cNvSpPr/>
            <p:nvPr/>
          </p:nvSpPr>
          <p:spPr>
            <a:xfrm>
              <a:off x="0" y="0"/>
              <a:ext cx="31686624" cy="13734062"/>
            </a:xfrm>
            <a:custGeom>
              <a:avLst/>
              <a:gdLst/>
              <a:ahLst/>
              <a:cxnLst/>
              <a:rect l="l" t="t" r="r" b="b"/>
              <a:pathLst>
                <a:path w="31686624" h="13734062">
                  <a:moveTo>
                    <a:pt x="0" y="0"/>
                  </a:moveTo>
                  <a:lnTo>
                    <a:pt x="31686624" y="0"/>
                  </a:lnTo>
                  <a:lnTo>
                    <a:pt x="31686624" y="13734062"/>
                  </a:lnTo>
                  <a:lnTo>
                    <a:pt x="0" y="13734062"/>
                  </a:lnTo>
                  <a:close/>
                </a:path>
              </a:pathLst>
            </a:custGeom>
            <a:solidFill>
              <a:srgbClr val="192954"/>
            </a:solidFill>
          </p:spPr>
          <p:txBody>
            <a:bodyPr/>
            <a:lstStyle/>
            <a:p>
              <a:endParaRPr lang="en-GB"/>
            </a:p>
          </p:txBody>
        </p:sp>
      </p:grpSp>
      <p:grpSp>
        <p:nvGrpSpPr>
          <p:cNvPr id="5" name="Group 5"/>
          <p:cNvGrpSpPr/>
          <p:nvPr/>
        </p:nvGrpSpPr>
        <p:grpSpPr>
          <a:xfrm rot="8705661">
            <a:off x="-11435053" y="-5762382"/>
            <a:ext cx="20124627" cy="8722700"/>
            <a:chOff x="0" y="0"/>
            <a:chExt cx="31686624" cy="13734063"/>
          </a:xfrm>
        </p:grpSpPr>
        <p:sp>
          <p:nvSpPr>
            <p:cNvPr id="6" name="Freeform 6"/>
            <p:cNvSpPr/>
            <p:nvPr/>
          </p:nvSpPr>
          <p:spPr>
            <a:xfrm>
              <a:off x="0" y="0"/>
              <a:ext cx="31686624" cy="13734062"/>
            </a:xfrm>
            <a:custGeom>
              <a:avLst/>
              <a:gdLst/>
              <a:ahLst/>
              <a:cxnLst/>
              <a:rect l="l" t="t" r="r" b="b"/>
              <a:pathLst>
                <a:path w="31686624" h="13734062">
                  <a:moveTo>
                    <a:pt x="0" y="0"/>
                  </a:moveTo>
                  <a:lnTo>
                    <a:pt x="31686624" y="0"/>
                  </a:lnTo>
                  <a:lnTo>
                    <a:pt x="31686624" y="13734062"/>
                  </a:lnTo>
                  <a:lnTo>
                    <a:pt x="0" y="13734062"/>
                  </a:lnTo>
                  <a:close/>
                </a:path>
              </a:pathLst>
            </a:custGeom>
            <a:solidFill>
              <a:srgbClr val="192954"/>
            </a:solidFill>
          </p:spPr>
          <p:txBody>
            <a:bodyPr/>
            <a:lstStyle/>
            <a:p>
              <a:endParaRPr lang="en-GB"/>
            </a:p>
          </p:txBody>
        </p:sp>
      </p:grpSp>
      <p:grpSp>
        <p:nvGrpSpPr>
          <p:cNvPr id="7" name="Group 7"/>
          <p:cNvGrpSpPr/>
          <p:nvPr/>
        </p:nvGrpSpPr>
        <p:grpSpPr>
          <a:xfrm rot="8100000">
            <a:off x="7773132" y="7642965"/>
            <a:ext cx="20124627" cy="8722700"/>
            <a:chOff x="0" y="0"/>
            <a:chExt cx="31686624" cy="13734063"/>
          </a:xfrm>
        </p:grpSpPr>
        <p:sp>
          <p:nvSpPr>
            <p:cNvPr id="8" name="Freeform 8"/>
            <p:cNvSpPr/>
            <p:nvPr/>
          </p:nvSpPr>
          <p:spPr>
            <a:xfrm>
              <a:off x="0" y="0"/>
              <a:ext cx="31686624" cy="13734062"/>
            </a:xfrm>
            <a:custGeom>
              <a:avLst/>
              <a:gdLst/>
              <a:ahLst/>
              <a:cxnLst/>
              <a:rect l="l" t="t" r="r" b="b"/>
              <a:pathLst>
                <a:path w="31686624" h="13734062">
                  <a:moveTo>
                    <a:pt x="0" y="0"/>
                  </a:moveTo>
                  <a:lnTo>
                    <a:pt x="31686624" y="0"/>
                  </a:lnTo>
                  <a:lnTo>
                    <a:pt x="31686624" y="13734062"/>
                  </a:lnTo>
                  <a:lnTo>
                    <a:pt x="0" y="13734062"/>
                  </a:lnTo>
                  <a:close/>
                </a:path>
              </a:pathLst>
            </a:custGeom>
            <a:solidFill>
              <a:srgbClr val="99B951"/>
            </a:solidFill>
          </p:spPr>
          <p:txBody>
            <a:bodyPr/>
            <a:lstStyle/>
            <a:p>
              <a:endParaRPr lang="en-GB"/>
            </a:p>
          </p:txBody>
        </p:sp>
      </p:grpSp>
      <p:sp>
        <p:nvSpPr>
          <p:cNvPr id="9" name="Freeform 9"/>
          <p:cNvSpPr/>
          <p:nvPr/>
        </p:nvSpPr>
        <p:spPr>
          <a:xfrm>
            <a:off x="174083" y="1028700"/>
            <a:ext cx="7893573" cy="4440897"/>
          </a:xfrm>
          <a:custGeom>
            <a:avLst/>
            <a:gdLst/>
            <a:ahLst/>
            <a:cxnLst/>
            <a:rect l="l" t="t" r="r" b="b"/>
            <a:pathLst>
              <a:path w="7893573" h="4440897">
                <a:moveTo>
                  <a:pt x="0" y="0"/>
                </a:moveTo>
                <a:lnTo>
                  <a:pt x="7893573" y="0"/>
                </a:lnTo>
                <a:lnTo>
                  <a:pt x="7893573" y="4440897"/>
                </a:lnTo>
                <a:lnTo>
                  <a:pt x="0" y="4440897"/>
                </a:lnTo>
                <a:lnTo>
                  <a:pt x="0" y="0"/>
                </a:lnTo>
                <a:close/>
              </a:path>
            </a:pathLst>
          </a:custGeom>
          <a:blipFill>
            <a:blip r:embed="rId2"/>
            <a:stretch>
              <a:fillRect/>
            </a:stretch>
          </a:blipFill>
        </p:spPr>
        <p:txBody>
          <a:bodyPr/>
          <a:lstStyle/>
          <a:p>
            <a:endParaRPr lang="en-GB"/>
          </a:p>
        </p:txBody>
      </p:sp>
      <p:sp>
        <p:nvSpPr>
          <p:cNvPr id="10" name="TextBox 10"/>
          <p:cNvSpPr txBox="1"/>
          <p:nvPr/>
        </p:nvSpPr>
        <p:spPr>
          <a:xfrm>
            <a:off x="0" y="9332595"/>
            <a:ext cx="6151327" cy="1507490"/>
          </a:xfrm>
          <a:prstGeom prst="rect">
            <a:avLst/>
          </a:prstGeom>
        </p:spPr>
        <p:txBody>
          <a:bodyPr lIns="0" tIns="0" rIns="0" bIns="0" rtlCol="0" anchor="t">
            <a:spAutoFit/>
          </a:bodyPr>
          <a:lstStyle/>
          <a:p>
            <a:pPr algn="l">
              <a:lnSpc>
                <a:spcPts val="1959"/>
              </a:lnSpc>
            </a:pPr>
            <a:r>
              <a:rPr lang="en-US" sz="1399" b="1">
                <a:solidFill>
                  <a:srgbClr val="FFFFFF"/>
                </a:solidFill>
                <a:latin typeface="Times New Roman Bold"/>
                <a:ea typeface="Times New Roman Bold"/>
                <a:cs typeface="Times New Roman Bold"/>
                <a:sym typeface="Times New Roman Bold"/>
              </a:rPr>
              <a:t>Fig 7.Can the world meet its targets. The Daily Star.</a:t>
            </a:r>
          </a:p>
          <a:p>
            <a:pPr algn="l">
              <a:lnSpc>
                <a:spcPts val="1959"/>
              </a:lnSpc>
            </a:pPr>
            <a:r>
              <a:rPr lang="en-US" sz="1399" b="1">
                <a:solidFill>
                  <a:srgbClr val="FFFFFF"/>
                </a:solidFill>
                <a:latin typeface="Times New Roman Bold"/>
                <a:ea typeface="Times New Roman Bold"/>
                <a:cs typeface="Times New Roman Bold"/>
                <a:sym typeface="Times New Roman Bold"/>
              </a:rPr>
              <a:t>Source: https://www.thedailystar.net/opinion/views/macro-mirror/news/sdgs-crossroads-can-the-world-meet-its-targets-3709401#lg=1&amp;slide=0</a:t>
            </a:r>
          </a:p>
          <a:p>
            <a:pPr algn="l">
              <a:lnSpc>
                <a:spcPts val="1959"/>
              </a:lnSpc>
            </a:pPr>
            <a:endParaRPr lang="en-US" sz="1399" b="1">
              <a:solidFill>
                <a:srgbClr val="FFFFFF"/>
              </a:solidFill>
              <a:latin typeface="Times New Roman Bold"/>
              <a:ea typeface="Times New Roman Bold"/>
              <a:cs typeface="Times New Roman Bold"/>
              <a:sym typeface="Times New Roman Bold"/>
            </a:endParaRPr>
          </a:p>
          <a:p>
            <a:pPr algn="l">
              <a:lnSpc>
                <a:spcPts val="1959"/>
              </a:lnSpc>
            </a:pPr>
            <a:endParaRPr lang="en-US" sz="1399" b="1">
              <a:solidFill>
                <a:srgbClr val="FFFFFF"/>
              </a:solidFill>
              <a:latin typeface="Times New Roman Bold"/>
              <a:ea typeface="Times New Roman Bold"/>
              <a:cs typeface="Times New Roman Bold"/>
              <a:sym typeface="Times New Roman Bold"/>
            </a:endParaRPr>
          </a:p>
          <a:p>
            <a:pPr algn="l">
              <a:lnSpc>
                <a:spcPts val="1959"/>
              </a:lnSpc>
              <a:spcBef>
                <a:spcPct val="0"/>
              </a:spcBef>
            </a:pPr>
            <a:endParaRPr lang="en-US" sz="1399" b="1">
              <a:solidFill>
                <a:srgbClr val="FFFFFF"/>
              </a:solidFill>
              <a:latin typeface="Times New Roman Bold"/>
              <a:ea typeface="Times New Roman Bold"/>
              <a:cs typeface="Times New Roman Bold"/>
              <a:sym typeface="Times New Roman Bold"/>
            </a:endParaRPr>
          </a:p>
        </p:txBody>
      </p:sp>
      <p:sp>
        <p:nvSpPr>
          <p:cNvPr id="11" name="TextBox 11"/>
          <p:cNvSpPr txBox="1"/>
          <p:nvPr/>
        </p:nvSpPr>
        <p:spPr>
          <a:xfrm>
            <a:off x="11947255" y="9607190"/>
            <a:ext cx="6612877" cy="935355"/>
          </a:xfrm>
          <a:prstGeom prst="rect">
            <a:avLst/>
          </a:prstGeom>
        </p:spPr>
        <p:txBody>
          <a:bodyPr lIns="0" tIns="0" rIns="0" bIns="0" rtlCol="0" anchor="t">
            <a:spAutoFit/>
          </a:bodyPr>
          <a:lstStyle/>
          <a:p>
            <a:pPr algn="l">
              <a:lnSpc>
                <a:spcPts val="2520"/>
              </a:lnSpc>
            </a:pPr>
            <a:r>
              <a:rPr lang="en-US" sz="1800" b="1">
                <a:solidFill>
                  <a:srgbClr val="000000"/>
                </a:solidFill>
                <a:latin typeface="Aileron Bold"/>
                <a:ea typeface="Aileron Bold"/>
                <a:cs typeface="Aileron Bold"/>
                <a:sym typeface="Aileron Bold"/>
              </a:rPr>
              <a:t>Fig 8.The Sustainable Development Goals in Bangladesh</a:t>
            </a:r>
          </a:p>
          <a:p>
            <a:pPr algn="l">
              <a:lnSpc>
                <a:spcPts val="2520"/>
              </a:lnSpc>
            </a:pPr>
            <a:r>
              <a:rPr lang="en-US" sz="1800" b="1">
                <a:solidFill>
                  <a:srgbClr val="000000"/>
                </a:solidFill>
                <a:latin typeface="Aileron Bold"/>
                <a:ea typeface="Aileron Bold"/>
                <a:cs typeface="Aileron Bold"/>
                <a:sym typeface="Aileron Bold"/>
              </a:rPr>
              <a:t>Source: https://bangladesh.un.org/en/sdgs</a:t>
            </a:r>
          </a:p>
          <a:p>
            <a:pPr algn="l">
              <a:lnSpc>
                <a:spcPts val="2520"/>
              </a:lnSpc>
              <a:spcBef>
                <a:spcPct val="0"/>
              </a:spcBef>
            </a:pPr>
            <a:endParaRPr lang="en-US" sz="1800" b="1">
              <a:solidFill>
                <a:srgbClr val="000000"/>
              </a:solidFill>
              <a:latin typeface="Aileron Bold"/>
              <a:ea typeface="Aileron Bold"/>
              <a:cs typeface="Aileron Bold"/>
              <a:sym typeface="Aileron Bold"/>
            </a:endParaRPr>
          </a:p>
        </p:txBody>
      </p:sp>
      <p:sp>
        <p:nvSpPr>
          <p:cNvPr id="12" name="TextBox 12"/>
          <p:cNvSpPr txBox="1"/>
          <p:nvPr/>
        </p:nvSpPr>
        <p:spPr>
          <a:xfrm>
            <a:off x="9734046" y="960559"/>
            <a:ext cx="615628" cy="1566544"/>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a:t>
            </a:r>
          </a:p>
        </p:txBody>
      </p:sp>
      <p:sp>
        <p:nvSpPr>
          <p:cNvPr id="13" name="TextBox 13"/>
          <p:cNvSpPr txBox="1"/>
          <p:nvPr/>
        </p:nvSpPr>
        <p:spPr>
          <a:xfrm>
            <a:off x="9652655" y="2678037"/>
            <a:ext cx="615628" cy="1566544"/>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a:t>
            </a:r>
          </a:p>
        </p:txBody>
      </p:sp>
      <p:sp>
        <p:nvSpPr>
          <p:cNvPr id="14" name="TextBox 14"/>
          <p:cNvSpPr txBox="1"/>
          <p:nvPr/>
        </p:nvSpPr>
        <p:spPr>
          <a:xfrm>
            <a:off x="9734046" y="4600600"/>
            <a:ext cx="615628" cy="1566544"/>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a:t>
            </a:r>
          </a:p>
        </p:txBody>
      </p:sp>
      <p:sp>
        <p:nvSpPr>
          <p:cNvPr id="15" name="TextBox 15"/>
          <p:cNvSpPr txBox="1"/>
          <p:nvPr/>
        </p:nvSpPr>
        <p:spPr>
          <a:xfrm>
            <a:off x="9743571" y="6206863"/>
            <a:ext cx="615628" cy="1566544"/>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a:t>
            </a:r>
          </a:p>
        </p:txBody>
      </p:sp>
      <p:sp>
        <p:nvSpPr>
          <p:cNvPr id="16" name="Freeform 16"/>
          <p:cNvSpPr/>
          <p:nvPr/>
        </p:nvSpPr>
        <p:spPr>
          <a:xfrm>
            <a:off x="8317933" y="1028700"/>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17" name="Freeform 17"/>
          <p:cNvSpPr/>
          <p:nvPr/>
        </p:nvSpPr>
        <p:spPr>
          <a:xfrm>
            <a:off x="10359199" y="1043208"/>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8" name="Freeform 18"/>
          <p:cNvSpPr/>
          <p:nvPr/>
        </p:nvSpPr>
        <p:spPr>
          <a:xfrm>
            <a:off x="8317933" y="2834979"/>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19" name="Freeform 19"/>
          <p:cNvSpPr/>
          <p:nvPr/>
        </p:nvSpPr>
        <p:spPr>
          <a:xfrm>
            <a:off x="10262089" y="2834979"/>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20" name="Freeform 20"/>
          <p:cNvSpPr/>
          <p:nvPr/>
        </p:nvSpPr>
        <p:spPr>
          <a:xfrm>
            <a:off x="8317933" y="4679496"/>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21" name="Freeform 21"/>
          <p:cNvSpPr/>
          <p:nvPr/>
        </p:nvSpPr>
        <p:spPr>
          <a:xfrm>
            <a:off x="10359199" y="4679496"/>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GB"/>
          </a:p>
        </p:txBody>
      </p:sp>
      <p:sp>
        <p:nvSpPr>
          <p:cNvPr id="22" name="Freeform 22"/>
          <p:cNvSpPr/>
          <p:nvPr/>
        </p:nvSpPr>
        <p:spPr>
          <a:xfrm>
            <a:off x="8317933" y="6378313"/>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sp>
        <p:nvSpPr>
          <p:cNvPr id="23" name="Freeform 23"/>
          <p:cNvSpPr/>
          <p:nvPr/>
        </p:nvSpPr>
        <p:spPr>
          <a:xfrm>
            <a:off x="10359199" y="6378313"/>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GB"/>
          </a:p>
        </p:txBody>
      </p:sp>
      <p:sp>
        <p:nvSpPr>
          <p:cNvPr id="24" name="TextBox 24"/>
          <p:cNvSpPr txBox="1"/>
          <p:nvPr/>
        </p:nvSpPr>
        <p:spPr>
          <a:xfrm>
            <a:off x="11768801" y="936247"/>
            <a:ext cx="644128" cy="1566544"/>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a:t>
            </a:r>
          </a:p>
        </p:txBody>
      </p:sp>
      <p:sp>
        <p:nvSpPr>
          <p:cNvPr id="25" name="TextBox 25"/>
          <p:cNvSpPr txBox="1"/>
          <p:nvPr/>
        </p:nvSpPr>
        <p:spPr>
          <a:xfrm>
            <a:off x="11675123" y="2663529"/>
            <a:ext cx="644128" cy="1566544"/>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a:t>
            </a:r>
          </a:p>
        </p:txBody>
      </p:sp>
      <p:sp>
        <p:nvSpPr>
          <p:cNvPr id="26" name="TextBox 26"/>
          <p:cNvSpPr txBox="1"/>
          <p:nvPr/>
        </p:nvSpPr>
        <p:spPr>
          <a:xfrm>
            <a:off x="11778326" y="4508046"/>
            <a:ext cx="644128" cy="1566544"/>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a:t>
            </a:r>
          </a:p>
        </p:txBody>
      </p:sp>
      <p:sp>
        <p:nvSpPr>
          <p:cNvPr id="27" name="TextBox 27"/>
          <p:cNvSpPr txBox="1"/>
          <p:nvPr/>
        </p:nvSpPr>
        <p:spPr>
          <a:xfrm>
            <a:off x="11787851" y="6221371"/>
            <a:ext cx="644128" cy="1566544"/>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a:t>
            </a:r>
          </a:p>
        </p:txBody>
      </p:sp>
      <p:sp>
        <p:nvSpPr>
          <p:cNvPr id="28" name="TextBox 28"/>
          <p:cNvSpPr txBox="1"/>
          <p:nvPr/>
        </p:nvSpPr>
        <p:spPr>
          <a:xfrm>
            <a:off x="12384354" y="1546981"/>
            <a:ext cx="4490293" cy="469900"/>
          </a:xfrm>
          <a:prstGeom prst="rect">
            <a:avLst/>
          </a:prstGeom>
        </p:spPr>
        <p:txBody>
          <a:bodyPr lIns="0" tIns="0" rIns="0" bIns="0" rtlCol="0" anchor="t">
            <a:spAutoFit/>
          </a:bodyPr>
          <a:lstStyle/>
          <a:p>
            <a:pPr algn="ctr">
              <a:lnSpc>
                <a:spcPts val="3499"/>
              </a:lnSpc>
            </a:pPr>
            <a:r>
              <a:rPr lang="en-US" sz="2499">
                <a:solidFill>
                  <a:srgbClr val="000000"/>
                </a:solidFill>
                <a:latin typeface="Times New Roman"/>
                <a:ea typeface="Times New Roman"/>
                <a:cs typeface="Times New Roman"/>
                <a:sym typeface="Times New Roman"/>
              </a:rPr>
              <a:t>Persistent Poverty and Inequality</a:t>
            </a:r>
          </a:p>
        </p:txBody>
      </p:sp>
      <p:sp>
        <p:nvSpPr>
          <p:cNvPr id="29" name="TextBox 29"/>
          <p:cNvSpPr txBox="1"/>
          <p:nvPr/>
        </p:nvSpPr>
        <p:spPr>
          <a:xfrm>
            <a:off x="12319251" y="3045384"/>
            <a:ext cx="5736266" cy="908050"/>
          </a:xfrm>
          <a:prstGeom prst="rect">
            <a:avLst/>
          </a:prstGeom>
        </p:spPr>
        <p:txBody>
          <a:bodyPr lIns="0" tIns="0" rIns="0" bIns="0" rtlCol="0" anchor="t">
            <a:spAutoFit/>
          </a:bodyPr>
          <a:lstStyle/>
          <a:p>
            <a:pPr algn="l">
              <a:lnSpc>
                <a:spcPts val="3499"/>
              </a:lnSpc>
            </a:pPr>
            <a:r>
              <a:rPr lang="en-US" sz="2499">
                <a:solidFill>
                  <a:srgbClr val="000000"/>
                </a:solidFill>
                <a:latin typeface="Times New Roman"/>
                <a:ea typeface="Times New Roman"/>
                <a:cs typeface="Times New Roman"/>
                <a:sym typeface="Times New Roman"/>
              </a:rPr>
              <a:t>Climate Vulnerability and Environmental Degradation</a:t>
            </a:r>
          </a:p>
        </p:txBody>
      </p:sp>
      <p:sp>
        <p:nvSpPr>
          <p:cNvPr id="30" name="TextBox 30"/>
          <p:cNvSpPr txBox="1"/>
          <p:nvPr/>
        </p:nvSpPr>
        <p:spPr>
          <a:xfrm>
            <a:off x="12431979" y="4882647"/>
            <a:ext cx="5244331" cy="908050"/>
          </a:xfrm>
          <a:prstGeom prst="rect">
            <a:avLst/>
          </a:prstGeom>
        </p:spPr>
        <p:txBody>
          <a:bodyPr lIns="0" tIns="0" rIns="0" bIns="0" rtlCol="0" anchor="t">
            <a:spAutoFit/>
          </a:bodyPr>
          <a:lstStyle/>
          <a:p>
            <a:pPr algn="l">
              <a:lnSpc>
                <a:spcPts val="3499"/>
              </a:lnSpc>
            </a:pPr>
            <a:r>
              <a:rPr lang="en-US" sz="2499">
                <a:solidFill>
                  <a:srgbClr val="000000"/>
                </a:solidFill>
                <a:latin typeface="Times New Roman"/>
                <a:ea typeface="Times New Roman"/>
                <a:cs typeface="Times New Roman"/>
                <a:sym typeface="Times New Roman"/>
              </a:rPr>
              <a:t>Weak Infrastructure and Urbanization</a:t>
            </a:r>
          </a:p>
          <a:p>
            <a:pPr algn="l">
              <a:lnSpc>
                <a:spcPts val="3499"/>
              </a:lnSpc>
            </a:pPr>
            <a:r>
              <a:rPr lang="en-US" sz="2499">
                <a:solidFill>
                  <a:srgbClr val="000000"/>
                </a:solidFill>
                <a:latin typeface="Times New Roman"/>
                <a:ea typeface="Times New Roman"/>
                <a:cs typeface="Times New Roman"/>
                <a:sym typeface="Times New Roman"/>
              </a:rPr>
              <a:t> Pressures</a:t>
            </a:r>
          </a:p>
        </p:txBody>
      </p:sp>
      <p:sp>
        <p:nvSpPr>
          <p:cNvPr id="31" name="TextBox 31"/>
          <p:cNvSpPr txBox="1"/>
          <p:nvPr/>
        </p:nvSpPr>
        <p:spPr>
          <a:xfrm>
            <a:off x="12422454" y="6579193"/>
            <a:ext cx="3991273" cy="917575"/>
          </a:xfrm>
          <a:prstGeom prst="rect">
            <a:avLst/>
          </a:prstGeom>
        </p:spPr>
        <p:txBody>
          <a:bodyPr lIns="0" tIns="0" rIns="0" bIns="0" rtlCol="0" anchor="t">
            <a:spAutoFit/>
          </a:bodyPr>
          <a:lstStyle/>
          <a:p>
            <a:pPr algn="ctr">
              <a:lnSpc>
                <a:spcPts val="3500"/>
              </a:lnSpc>
            </a:pPr>
            <a:r>
              <a:rPr lang="en-US" sz="2500">
                <a:solidFill>
                  <a:srgbClr val="000000"/>
                </a:solidFill>
                <a:latin typeface="Times New Roman"/>
                <a:ea typeface="Times New Roman"/>
                <a:cs typeface="Times New Roman"/>
                <a:sym typeface="Times New Roman"/>
              </a:rPr>
              <a:t>Governance and Institutional</a:t>
            </a:r>
          </a:p>
          <a:p>
            <a:pPr algn="l">
              <a:lnSpc>
                <a:spcPts val="3500"/>
              </a:lnSpc>
            </a:pPr>
            <a:r>
              <a:rPr lang="en-US" sz="2500">
                <a:solidFill>
                  <a:srgbClr val="000000"/>
                </a:solidFill>
                <a:latin typeface="Times New Roman"/>
                <a:ea typeface="Times New Roman"/>
                <a:cs typeface="Times New Roman"/>
                <a:sym typeface="Times New Roman"/>
              </a:rPr>
              <a:t> Capacity Gaps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EFE1"/>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5965318" y="8229485"/>
            <a:ext cx="2324542" cy="2320823"/>
            <a:chOff x="0" y="0"/>
            <a:chExt cx="6350000" cy="6339840"/>
          </a:xfrm>
        </p:grpSpPr>
        <p:sp>
          <p:nvSpPr>
            <p:cNvPr id="3" name="Freeform 3"/>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99B951"/>
            </a:solidFill>
          </p:spPr>
          <p:txBody>
            <a:bodyPr/>
            <a:lstStyle/>
            <a:p>
              <a:endParaRPr lang="en-GB"/>
            </a:p>
          </p:txBody>
        </p:sp>
      </p:grpSp>
      <p:sp>
        <p:nvSpPr>
          <p:cNvPr id="4" name="TextBox 4"/>
          <p:cNvSpPr txBox="1"/>
          <p:nvPr/>
        </p:nvSpPr>
        <p:spPr>
          <a:xfrm>
            <a:off x="8497050" y="428892"/>
            <a:ext cx="9257550" cy="764440"/>
          </a:xfrm>
          <a:prstGeom prst="rect">
            <a:avLst/>
          </a:prstGeom>
        </p:spPr>
        <p:txBody>
          <a:bodyPr wrap="square" lIns="0" tIns="0" rIns="0" bIns="0" rtlCol="0" anchor="t">
            <a:spAutoFit/>
          </a:bodyPr>
          <a:lstStyle/>
          <a:p>
            <a:pPr algn="ctr">
              <a:lnSpc>
                <a:spcPts val="6486"/>
              </a:lnSpc>
            </a:pPr>
            <a:r>
              <a:rPr lang="en-US" sz="4632" b="1" dirty="0">
                <a:solidFill>
                  <a:srgbClr val="192954"/>
                </a:solidFill>
                <a:latin typeface="Times New Roman Bold"/>
                <a:ea typeface="Times New Roman Bold"/>
                <a:cs typeface="Times New Roman Bold"/>
                <a:sym typeface="Times New Roman Bold"/>
              </a:rPr>
              <a:t> "Possible Solutions for Bangladesh"</a:t>
            </a:r>
          </a:p>
        </p:txBody>
      </p:sp>
      <p:sp>
        <p:nvSpPr>
          <p:cNvPr id="5" name="Freeform 5"/>
          <p:cNvSpPr/>
          <p:nvPr/>
        </p:nvSpPr>
        <p:spPr>
          <a:xfrm>
            <a:off x="8016677" y="1694693"/>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Freeform 6"/>
          <p:cNvSpPr/>
          <p:nvPr/>
        </p:nvSpPr>
        <p:spPr>
          <a:xfrm>
            <a:off x="9882359" y="5543550"/>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7" name="Freeform 7"/>
          <p:cNvSpPr/>
          <p:nvPr/>
        </p:nvSpPr>
        <p:spPr>
          <a:xfrm>
            <a:off x="9882359" y="3523710"/>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8" name="Freeform 8"/>
          <p:cNvSpPr/>
          <p:nvPr/>
        </p:nvSpPr>
        <p:spPr>
          <a:xfrm>
            <a:off x="8016677" y="3551970"/>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9" name="Freeform 9"/>
          <p:cNvSpPr/>
          <p:nvPr/>
        </p:nvSpPr>
        <p:spPr>
          <a:xfrm>
            <a:off x="9882359" y="1661473"/>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sp>
        <p:nvSpPr>
          <p:cNvPr id="10" name="Freeform 10"/>
          <p:cNvSpPr/>
          <p:nvPr/>
        </p:nvSpPr>
        <p:spPr>
          <a:xfrm>
            <a:off x="7974242" y="5543550"/>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GB"/>
          </a:p>
        </p:txBody>
      </p:sp>
      <p:sp>
        <p:nvSpPr>
          <p:cNvPr id="11" name="Freeform 11"/>
          <p:cNvSpPr/>
          <p:nvPr/>
        </p:nvSpPr>
        <p:spPr>
          <a:xfrm>
            <a:off x="13863613" y="1599560"/>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GB"/>
          </a:p>
        </p:txBody>
      </p:sp>
      <p:sp>
        <p:nvSpPr>
          <p:cNvPr id="12" name="Freeform 12"/>
          <p:cNvSpPr/>
          <p:nvPr/>
        </p:nvSpPr>
        <p:spPr>
          <a:xfrm>
            <a:off x="11872986" y="3523710"/>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GB"/>
          </a:p>
        </p:txBody>
      </p:sp>
      <p:sp>
        <p:nvSpPr>
          <p:cNvPr id="13" name="Freeform 13"/>
          <p:cNvSpPr/>
          <p:nvPr/>
        </p:nvSpPr>
        <p:spPr>
          <a:xfrm>
            <a:off x="16126401" y="5588827"/>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GB"/>
          </a:p>
        </p:txBody>
      </p:sp>
      <p:sp>
        <p:nvSpPr>
          <p:cNvPr id="14" name="Freeform 14"/>
          <p:cNvSpPr/>
          <p:nvPr/>
        </p:nvSpPr>
        <p:spPr>
          <a:xfrm>
            <a:off x="13844682" y="5543550"/>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GB"/>
          </a:p>
        </p:txBody>
      </p:sp>
      <p:sp>
        <p:nvSpPr>
          <p:cNvPr id="15" name="Freeform 15"/>
          <p:cNvSpPr/>
          <p:nvPr/>
        </p:nvSpPr>
        <p:spPr>
          <a:xfrm>
            <a:off x="11872986" y="1601316"/>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GB"/>
          </a:p>
        </p:txBody>
      </p:sp>
      <p:sp>
        <p:nvSpPr>
          <p:cNvPr id="16" name="Freeform 16"/>
          <p:cNvSpPr/>
          <p:nvPr/>
        </p:nvSpPr>
        <p:spPr>
          <a:xfrm>
            <a:off x="11863580" y="5543550"/>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GB"/>
          </a:p>
        </p:txBody>
      </p:sp>
      <p:sp>
        <p:nvSpPr>
          <p:cNvPr id="17" name="Freeform 17"/>
          <p:cNvSpPr/>
          <p:nvPr/>
        </p:nvSpPr>
        <p:spPr>
          <a:xfrm>
            <a:off x="13982771" y="3523710"/>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GB"/>
          </a:p>
        </p:txBody>
      </p:sp>
      <p:sp>
        <p:nvSpPr>
          <p:cNvPr id="18" name="Freeform 18"/>
          <p:cNvSpPr/>
          <p:nvPr/>
        </p:nvSpPr>
        <p:spPr>
          <a:xfrm>
            <a:off x="15967177" y="1599560"/>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GB"/>
          </a:p>
        </p:txBody>
      </p:sp>
      <p:sp>
        <p:nvSpPr>
          <p:cNvPr id="19" name="Freeform 19"/>
          <p:cNvSpPr/>
          <p:nvPr/>
        </p:nvSpPr>
        <p:spPr>
          <a:xfrm>
            <a:off x="16097223" y="3523710"/>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GB"/>
          </a:p>
        </p:txBody>
      </p:sp>
      <p:grpSp>
        <p:nvGrpSpPr>
          <p:cNvPr id="20" name="Group 20"/>
          <p:cNvGrpSpPr/>
          <p:nvPr/>
        </p:nvGrpSpPr>
        <p:grpSpPr>
          <a:xfrm rot="6837481">
            <a:off x="-5854491" y="-1786186"/>
            <a:ext cx="14240601" cy="10403814"/>
            <a:chOff x="0" y="0"/>
            <a:chExt cx="22422108" cy="16381011"/>
          </a:xfrm>
        </p:grpSpPr>
        <p:sp>
          <p:nvSpPr>
            <p:cNvPr id="21" name="Freeform 21"/>
            <p:cNvSpPr/>
            <p:nvPr/>
          </p:nvSpPr>
          <p:spPr>
            <a:xfrm>
              <a:off x="0" y="0"/>
              <a:ext cx="22422109" cy="16381011"/>
            </a:xfrm>
            <a:custGeom>
              <a:avLst/>
              <a:gdLst/>
              <a:ahLst/>
              <a:cxnLst/>
              <a:rect l="l" t="t" r="r" b="b"/>
              <a:pathLst>
                <a:path w="22422109" h="16381011">
                  <a:moveTo>
                    <a:pt x="0" y="0"/>
                  </a:moveTo>
                  <a:lnTo>
                    <a:pt x="22422109" y="0"/>
                  </a:lnTo>
                  <a:lnTo>
                    <a:pt x="22422109" y="16381011"/>
                  </a:lnTo>
                  <a:lnTo>
                    <a:pt x="0" y="16381011"/>
                  </a:lnTo>
                  <a:close/>
                </a:path>
              </a:pathLst>
            </a:custGeom>
            <a:solidFill>
              <a:srgbClr val="192954"/>
            </a:solidFill>
          </p:spPr>
          <p:txBody>
            <a:bodyPr/>
            <a:lstStyle/>
            <a:p>
              <a:endParaRPr lang="en-GB"/>
            </a:p>
          </p:txBody>
        </p:sp>
      </p:grpSp>
      <p:sp>
        <p:nvSpPr>
          <p:cNvPr id="22" name="Freeform 22"/>
          <p:cNvSpPr/>
          <p:nvPr/>
        </p:nvSpPr>
        <p:spPr>
          <a:xfrm>
            <a:off x="40312" y="-16798"/>
            <a:ext cx="5749943" cy="6569900"/>
          </a:xfrm>
          <a:custGeom>
            <a:avLst/>
            <a:gdLst/>
            <a:ahLst/>
            <a:cxnLst/>
            <a:rect l="l" t="t" r="r" b="b"/>
            <a:pathLst>
              <a:path w="5749943" h="6569900">
                <a:moveTo>
                  <a:pt x="0" y="0"/>
                </a:moveTo>
                <a:lnTo>
                  <a:pt x="5749943" y="0"/>
                </a:lnTo>
                <a:lnTo>
                  <a:pt x="5749943" y="6569900"/>
                </a:lnTo>
                <a:lnTo>
                  <a:pt x="0" y="6569900"/>
                </a:lnTo>
                <a:lnTo>
                  <a:pt x="0" y="0"/>
                </a:lnTo>
                <a:close/>
              </a:path>
            </a:pathLst>
          </a:custGeom>
          <a:blipFill>
            <a:blip r:embed="rId32"/>
            <a:stretch>
              <a:fillRect/>
            </a:stretch>
          </a:blipFill>
        </p:spPr>
        <p:txBody>
          <a:bodyPr/>
          <a:lstStyle/>
          <a:p>
            <a:endParaRPr lang="en-GB"/>
          </a:p>
        </p:txBody>
      </p:sp>
      <p:sp>
        <p:nvSpPr>
          <p:cNvPr id="23" name="TextBox 23"/>
          <p:cNvSpPr txBox="1"/>
          <p:nvPr/>
        </p:nvSpPr>
        <p:spPr>
          <a:xfrm>
            <a:off x="13665625" y="9549518"/>
            <a:ext cx="4603105" cy="488315"/>
          </a:xfrm>
          <a:prstGeom prst="rect">
            <a:avLst/>
          </a:prstGeom>
        </p:spPr>
        <p:txBody>
          <a:bodyPr lIns="0" tIns="0" rIns="0" bIns="0" rtlCol="0" anchor="t">
            <a:spAutoFit/>
          </a:bodyPr>
          <a:lstStyle/>
          <a:p>
            <a:pPr algn="ctr">
              <a:lnSpc>
                <a:spcPts val="1960"/>
              </a:lnSpc>
            </a:pPr>
            <a:r>
              <a:rPr lang="en-US" sz="1400">
                <a:solidFill>
                  <a:srgbClr val="192954"/>
                </a:solidFill>
                <a:latin typeface="Aileron"/>
                <a:ea typeface="Aileron"/>
                <a:cs typeface="Aileron"/>
                <a:sym typeface="Aileron"/>
              </a:rPr>
              <a:t>Fig 10.The Sustainable Development Goals in Bangladesh</a:t>
            </a:r>
          </a:p>
          <a:p>
            <a:pPr algn="ctr">
              <a:lnSpc>
                <a:spcPts val="1960"/>
              </a:lnSpc>
              <a:spcBef>
                <a:spcPct val="0"/>
              </a:spcBef>
            </a:pPr>
            <a:r>
              <a:rPr lang="en-US" sz="1400">
                <a:solidFill>
                  <a:srgbClr val="192954"/>
                </a:solidFill>
                <a:latin typeface="Aileron"/>
                <a:ea typeface="Aileron"/>
                <a:cs typeface="Aileron"/>
                <a:sym typeface="Aileron"/>
              </a:rPr>
              <a:t>Source: https://bangladesh.un.org/en/sdgs</a:t>
            </a:r>
          </a:p>
        </p:txBody>
      </p:sp>
      <p:sp>
        <p:nvSpPr>
          <p:cNvPr id="24" name="TextBox 24"/>
          <p:cNvSpPr txBox="1"/>
          <p:nvPr/>
        </p:nvSpPr>
        <p:spPr>
          <a:xfrm>
            <a:off x="40312" y="9090642"/>
            <a:ext cx="4025540" cy="1415592"/>
          </a:xfrm>
          <a:prstGeom prst="rect">
            <a:avLst/>
          </a:prstGeom>
        </p:spPr>
        <p:txBody>
          <a:bodyPr lIns="0" tIns="0" rIns="0" bIns="0" rtlCol="0" anchor="t">
            <a:spAutoFit/>
          </a:bodyPr>
          <a:lstStyle/>
          <a:p>
            <a:pPr algn="l">
              <a:lnSpc>
                <a:spcPts val="1887"/>
              </a:lnSpc>
            </a:pPr>
            <a:r>
              <a:rPr lang="en-US" sz="1348">
                <a:solidFill>
                  <a:srgbClr val="FFFFFF"/>
                </a:solidFill>
                <a:latin typeface="Aileron"/>
                <a:ea typeface="Aileron"/>
                <a:cs typeface="Aileron"/>
                <a:sym typeface="Aileron"/>
              </a:rPr>
              <a:t>Fig 9. Meeting the SDGs</a:t>
            </a:r>
          </a:p>
          <a:p>
            <a:pPr algn="l">
              <a:lnSpc>
                <a:spcPts val="1887"/>
              </a:lnSpc>
            </a:pPr>
            <a:r>
              <a:rPr lang="en-US" sz="1348">
                <a:solidFill>
                  <a:srgbClr val="FFFFFF"/>
                </a:solidFill>
                <a:latin typeface="Aileron"/>
                <a:ea typeface="Aileron"/>
                <a:cs typeface="Aileron"/>
                <a:sym typeface="Aileron"/>
              </a:rPr>
              <a:t>Source:https://lightcastlepartners.com/insights/2020/10/meeting-the-sdgs-how-will-bangladesh-play-the-game/</a:t>
            </a:r>
          </a:p>
          <a:p>
            <a:pPr algn="l">
              <a:lnSpc>
                <a:spcPts val="1887"/>
              </a:lnSpc>
            </a:pPr>
            <a:r>
              <a:rPr lang="en-US" sz="1348">
                <a:solidFill>
                  <a:srgbClr val="FFFFFF"/>
                </a:solidFill>
                <a:latin typeface="Aileron"/>
                <a:ea typeface="Aileron"/>
                <a:cs typeface="Aileron"/>
                <a:sym typeface="Aileron"/>
              </a:rPr>
              <a:t>Source: https://bangladesh.un.org/en/sdgs</a:t>
            </a:r>
          </a:p>
          <a:p>
            <a:pPr algn="l">
              <a:lnSpc>
                <a:spcPts val="1887"/>
              </a:lnSpc>
              <a:spcBef>
                <a:spcPct val="0"/>
              </a:spcBef>
            </a:pPr>
            <a:endParaRPr lang="en-US" sz="1348">
              <a:solidFill>
                <a:srgbClr val="FFFFFF"/>
              </a:solidFill>
              <a:latin typeface="Aileron"/>
              <a:ea typeface="Aileron"/>
              <a:cs typeface="Aileron"/>
              <a:sym typeface="Aileron"/>
            </a:endParaRPr>
          </a:p>
        </p:txBody>
      </p:sp>
      <p:sp>
        <p:nvSpPr>
          <p:cNvPr id="25" name="Freeform 25"/>
          <p:cNvSpPr/>
          <p:nvPr/>
        </p:nvSpPr>
        <p:spPr>
          <a:xfrm>
            <a:off x="7974242" y="7719319"/>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txBody>
          <a:bodyPr/>
          <a:lstStyle/>
          <a:p>
            <a:endParaRPr lang="en-GB"/>
          </a:p>
        </p:txBody>
      </p:sp>
      <p:sp>
        <p:nvSpPr>
          <p:cNvPr id="26" name="Freeform 26"/>
          <p:cNvSpPr/>
          <p:nvPr/>
        </p:nvSpPr>
        <p:spPr>
          <a:xfrm>
            <a:off x="9882359" y="7719319"/>
            <a:ext cx="1409602" cy="1409602"/>
          </a:xfrm>
          <a:custGeom>
            <a:avLst/>
            <a:gdLst/>
            <a:ahLst/>
            <a:cxnLst/>
            <a:rect l="l" t="t" r="r" b="b"/>
            <a:pathLst>
              <a:path w="1409602" h="1409602">
                <a:moveTo>
                  <a:pt x="0" y="0"/>
                </a:moveTo>
                <a:lnTo>
                  <a:pt x="1409602" y="0"/>
                </a:lnTo>
                <a:lnTo>
                  <a:pt x="1409602" y="1409602"/>
                </a:lnTo>
                <a:lnTo>
                  <a:pt x="0" y="1409602"/>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txBody>
          <a:bodyPr/>
          <a:lstStyle/>
          <a:p>
            <a:endParaRPr lang="en-GB"/>
          </a:p>
        </p:txBody>
      </p:sp>
      <p:sp>
        <p:nvSpPr>
          <p:cNvPr id="27" name="TextBox 27"/>
          <p:cNvSpPr txBox="1"/>
          <p:nvPr/>
        </p:nvSpPr>
        <p:spPr>
          <a:xfrm>
            <a:off x="8137237" y="3023450"/>
            <a:ext cx="1168482" cy="4222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Aileron Bold"/>
                <a:ea typeface="Aileron Bold"/>
                <a:cs typeface="Aileron Bold"/>
                <a:sym typeface="Aileron Bold"/>
              </a:rPr>
              <a:t>4.7%</a:t>
            </a:r>
          </a:p>
        </p:txBody>
      </p:sp>
      <p:sp>
        <p:nvSpPr>
          <p:cNvPr id="28" name="TextBox 28"/>
          <p:cNvSpPr txBox="1"/>
          <p:nvPr/>
        </p:nvSpPr>
        <p:spPr>
          <a:xfrm>
            <a:off x="9973012" y="3031580"/>
            <a:ext cx="1228297" cy="4222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Aileron Bold"/>
                <a:ea typeface="Aileron Bold"/>
                <a:cs typeface="Aileron Bold"/>
                <a:sym typeface="Aileron Bold"/>
              </a:rPr>
              <a:t>11.9%</a:t>
            </a:r>
          </a:p>
        </p:txBody>
      </p:sp>
      <p:sp>
        <p:nvSpPr>
          <p:cNvPr id="29" name="TextBox 29"/>
          <p:cNvSpPr txBox="1"/>
          <p:nvPr/>
        </p:nvSpPr>
        <p:spPr>
          <a:xfrm>
            <a:off x="12120141" y="3023450"/>
            <a:ext cx="915293" cy="4222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Aileron Bold"/>
                <a:ea typeface="Aileron Bold"/>
                <a:cs typeface="Aileron Bold"/>
                <a:sym typeface="Aileron Bold"/>
              </a:rPr>
              <a:t>29.3%</a:t>
            </a:r>
          </a:p>
        </p:txBody>
      </p:sp>
      <p:sp>
        <p:nvSpPr>
          <p:cNvPr id="30" name="TextBox 30"/>
          <p:cNvSpPr txBox="1"/>
          <p:nvPr/>
        </p:nvSpPr>
        <p:spPr>
          <a:xfrm>
            <a:off x="14191030" y="2963293"/>
            <a:ext cx="716905" cy="4222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Aileron Bold"/>
                <a:ea typeface="Aileron Bold"/>
                <a:cs typeface="Aileron Bold"/>
                <a:sym typeface="Aileron Bold"/>
              </a:rPr>
              <a:t>4.1%</a:t>
            </a:r>
          </a:p>
        </p:txBody>
      </p:sp>
      <p:sp>
        <p:nvSpPr>
          <p:cNvPr id="31" name="TextBox 31"/>
          <p:cNvSpPr txBox="1"/>
          <p:nvPr/>
        </p:nvSpPr>
        <p:spPr>
          <a:xfrm>
            <a:off x="16451638" y="3031580"/>
            <a:ext cx="440680" cy="4222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Aileron Bold"/>
                <a:ea typeface="Aileron Bold"/>
                <a:cs typeface="Aileron Bold"/>
                <a:sym typeface="Aileron Bold"/>
              </a:rPr>
              <a:t>8%</a:t>
            </a:r>
          </a:p>
        </p:txBody>
      </p:sp>
      <p:sp>
        <p:nvSpPr>
          <p:cNvPr id="32" name="TextBox 32"/>
          <p:cNvSpPr txBox="1"/>
          <p:nvPr/>
        </p:nvSpPr>
        <p:spPr>
          <a:xfrm>
            <a:off x="8222749" y="4961572"/>
            <a:ext cx="921251" cy="4222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Aileron Bold"/>
                <a:ea typeface="Aileron Bold"/>
                <a:cs typeface="Aileron Bold"/>
                <a:sym typeface="Aileron Bold"/>
              </a:rPr>
              <a:t>5.5%</a:t>
            </a:r>
          </a:p>
        </p:txBody>
      </p:sp>
      <p:sp>
        <p:nvSpPr>
          <p:cNvPr id="33" name="TextBox 33"/>
          <p:cNvSpPr txBox="1"/>
          <p:nvPr/>
        </p:nvSpPr>
        <p:spPr>
          <a:xfrm>
            <a:off x="10228708" y="4961573"/>
            <a:ext cx="716905" cy="4222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Aileron Bold"/>
                <a:ea typeface="Aileron Bold"/>
                <a:cs typeface="Aileron Bold"/>
                <a:sym typeface="Aileron Bold"/>
              </a:rPr>
              <a:t>1.2%</a:t>
            </a:r>
          </a:p>
        </p:txBody>
      </p:sp>
      <p:sp>
        <p:nvSpPr>
          <p:cNvPr id="34" name="TextBox 34"/>
          <p:cNvSpPr txBox="1"/>
          <p:nvPr/>
        </p:nvSpPr>
        <p:spPr>
          <a:xfrm>
            <a:off x="12140142" y="4942837"/>
            <a:ext cx="1133040" cy="4222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Aileron Bold"/>
                <a:ea typeface="Aileron Bold"/>
                <a:cs typeface="Aileron Bold"/>
                <a:sym typeface="Aileron Bold"/>
              </a:rPr>
              <a:t>10.6%</a:t>
            </a:r>
          </a:p>
        </p:txBody>
      </p:sp>
      <p:sp>
        <p:nvSpPr>
          <p:cNvPr id="35" name="TextBox 35"/>
          <p:cNvSpPr txBox="1"/>
          <p:nvPr/>
        </p:nvSpPr>
        <p:spPr>
          <a:xfrm>
            <a:off x="14318771" y="4961573"/>
            <a:ext cx="716905" cy="4222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Aileron Bold"/>
                <a:ea typeface="Aileron Bold"/>
                <a:cs typeface="Aileron Bold"/>
                <a:sym typeface="Aileron Bold"/>
              </a:rPr>
              <a:t>1.5%</a:t>
            </a:r>
          </a:p>
        </p:txBody>
      </p:sp>
      <p:sp>
        <p:nvSpPr>
          <p:cNvPr id="36" name="TextBox 36"/>
          <p:cNvSpPr txBox="1"/>
          <p:nvPr/>
        </p:nvSpPr>
        <p:spPr>
          <a:xfrm>
            <a:off x="16559694" y="4961573"/>
            <a:ext cx="817085" cy="4222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Aileron Bold"/>
                <a:ea typeface="Aileron Bold"/>
                <a:cs typeface="Aileron Bold"/>
                <a:sym typeface="Aileron Bold"/>
              </a:rPr>
              <a:t>3.6%</a:t>
            </a:r>
          </a:p>
        </p:txBody>
      </p:sp>
      <p:sp>
        <p:nvSpPr>
          <p:cNvPr id="37" name="TextBox 37"/>
          <p:cNvSpPr txBox="1"/>
          <p:nvPr/>
        </p:nvSpPr>
        <p:spPr>
          <a:xfrm>
            <a:off x="8427621" y="6950804"/>
            <a:ext cx="440680" cy="4222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Aileron Bold"/>
                <a:ea typeface="Aileron Bold"/>
                <a:cs typeface="Aileron Bold"/>
                <a:sym typeface="Aileron Bold"/>
              </a:rPr>
              <a:t>1%</a:t>
            </a:r>
          </a:p>
        </p:txBody>
      </p:sp>
      <p:sp>
        <p:nvSpPr>
          <p:cNvPr id="38" name="TextBox 38"/>
          <p:cNvSpPr txBox="1"/>
          <p:nvPr/>
        </p:nvSpPr>
        <p:spPr>
          <a:xfrm>
            <a:off x="10143763" y="6981727"/>
            <a:ext cx="886794" cy="4222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Aileron Bold"/>
                <a:ea typeface="Aileron Bold"/>
                <a:cs typeface="Aileron Bold"/>
                <a:sym typeface="Aileron Bold"/>
              </a:rPr>
              <a:t>2.8%</a:t>
            </a:r>
          </a:p>
        </p:txBody>
      </p:sp>
      <p:sp>
        <p:nvSpPr>
          <p:cNvPr id="39" name="TextBox 39"/>
          <p:cNvSpPr txBox="1"/>
          <p:nvPr/>
        </p:nvSpPr>
        <p:spPr>
          <a:xfrm>
            <a:off x="12219335" y="6950804"/>
            <a:ext cx="716905" cy="4222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Aileron Bold"/>
                <a:ea typeface="Aileron Bold"/>
                <a:cs typeface="Aileron Bold"/>
                <a:sym typeface="Aileron Bold"/>
              </a:rPr>
              <a:t>8.1%</a:t>
            </a:r>
          </a:p>
        </p:txBody>
      </p:sp>
      <p:sp>
        <p:nvSpPr>
          <p:cNvPr id="40" name="TextBox 40"/>
          <p:cNvSpPr txBox="1"/>
          <p:nvPr/>
        </p:nvSpPr>
        <p:spPr>
          <a:xfrm>
            <a:off x="14307153" y="6981727"/>
            <a:ext cx="484659" cy="4222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Aileron Bold"/>
                <a:ea typeface="Aileron Bold"/>
                <a:cs typeface="Aileron Bold"/>
                <a:sym typeface="Aileron Bold"/>
              </a:rPr>
              <a:t>1%</a:t>
            </a:r>
          </a:p>
        </p:txBody>
      </p:sp>
      <p:sp>
        <p:nvSpPr>
          <p:cNvPr id="41" name="TextBox 41"/>
          <p:cNvSpPr txBox="1"/>
          <p:nvPr/>
        </p:nvSpPr>
        <p:spPr>
          <a:xfrm>
            <a:off x="16404944" y="7073775"/>
            <a:ext cx="716905" cy="4222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Aileron Bold"/>
                <a:ea typeface="Aileron Bold"/>
                <a:cs typeface="Aileron Bold"/>
                <a:sym typeface="Aileron Bold"/>
              </a:rPr>
              <a:t>2.6%</a:t>
            </a:r>
          </a:p>
        </p:txBody>
      </p:sp>
      <p:sp>
        <p:nvSpPr>
          <p:cNvPr id="42" name="TextBox 42"/>
          <p:cNvSpPr txBox="1"/>
          <p:nvPr/>
        </p:nvSpPr>
        <p:spPr>
          <a:xfrm>
            <a:off x="8358589" y="9210675"/>
            <a:ext cx="947130" cy="4222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Aileron Bold"/>
                <a:ea typeface="Aileron Bold"/>
                <a:cs typeface="Aileron Bold"/>
                <a:sym typeface="Aileron Bold"/>
              </a:rPr>
              <a:t>3.8%</a:t>
            </a:r>
          </a:p>
        </p:txBody>
      </p:sp>
      <p:sp>
        <p:nvSpPr>
          <p:cNvPr id="43" name="TextBox 43"/>
          <p:cNvSpPr txBox="1"/>
          <p:nvPr/>
        </p:nvSpPr>
        <p:spPr>
          <a:xfrm>
            <a:off x="10228708" y="9157496"/>
            <a:ext cx="716905" cy="4222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Aileron Bold"/>
                <a:ea typeface="Aileron Bold"/>
                <a:cs typeface="Aileron Bold"/>
                <a:sym typeface="Aileron Bold"/>
              </a:rPr>
              <a:t>0.2%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EFE1"/>
        </a:solidFill>
        <a:effectLst/>
      </p:bgPr>
    </p:bg>
    <p:spTree>
      <p:nvGrpSpPr>
        <p:cNvPr id="1" name=""/>
        <p:cNvGrpSpPr/>
        <p:nvPr/>
      </p:nvGrpSpPr>
      <p:grpSpPr>
        <a:xfrm>
          <a:off x="0" y="0"/>
          <a:ext cx="0" cy="0"/>
          <a:chOff x="0" y="0"/>
          <a:chExt cx="0" cy="0"/>
        </a:xfrm>
      </p:grpSpPr>
      <p:grpSp>
        <p:nvGrpSpPr>
          <p:cNvPr id="2" name="Group 2"/>
          <p:cNvGrpSpPr/>
          <p:nvPr/>
        </p:nvGrpSpPr>
        <p:grpSpPr>
          <a:xfrm rot="6837481">
            <a:off x="-6091601" y="-1923127"/>
            <a:ext cx="14240601" cy="10403814"/>
            <a:chOff x="0" y="0"/>
            <a:chExt cx="22422108" cy="16381011"/>
          </a:xfrm>
        </p:grpSpPr>
        <p:sp>
          <p:nvSpPr>
            <p:cNvPr id="3" name="Freeform 3"/>
            <p:cNvSpPr/>
            <p:nvPr/>
          </p:nvSpPr>
          <p:spPr>
            <a:xfrm>
              <a:off x="0" y="0"/>
              <a:ext cx="22422109" cy="16381011"/>
            </a:xfrm>
            <a:custGeom>
              <a:avLst/>
              <a:gdLst/>
              <a:ahLst/>
              <a:cxnLst/>
              <a:rect l="l" t="t" r="r" b="b"/>
              <a:pathLst>
                <a:path w="22422109" h="16381011">
                  <a:moveTo>
                    <a:pt x="0" y="0"/>
                  </a:moveTo>
                  <a:lnTo>
                    <a:pt x="22422109" y="0"/>
                  </a:lnTo>
                  <a:lnTo>
                    <a:pt x="22422109" y="16381011"/>
                  </a:lnTo>
                  <a:lnTo>
                    <a:pt x="0" y="16381011"/>
                  </a:lnTo>
                  <a:close/>
                </a:path>
              </a:pathLst>
            </a:custGeom>
            <a:solidFill>
              <a:srgbClr val="192954"/>
            </a:solidFill>
          </p:spPr>
          <p:txBody>
            <a:bodyPr/>
            <a:lstStyle/>
            <a:p>
              <a:endParaRPr lang="en-GB"/>
            </a:p>
          </p:txBody>
        </p:sp>
      </p:grpSp>
      <p:grpSp>
        <p:nvGrpSpPr>
          <p:cNvPr id="4" name="Group 4"/>
          <p:cNvGrpSpPr/>
          <p:nvPr/>
        </p:nvGrpSpPr>
        <p:grpSpPr>
          <a:xfrm rot="-5400000">
            <a:off x="15965318" y="8229485"/>
            <a:ext cx="2324542" cy="2320823"/>
            <a:chOff x="0" y="0"/>
            <a:chExt cx="6350000" cy="6339840"/>
          </a:xfrm>
        </p:grpSpPr>
        <p:sp>
          <p:nvSpPr>
            <p:cNvPr id="5" name="Freeform 5"/>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99B951"/>
            </a:solidFill>
          </p:spPr>
          <p:txBody>
            <a:bodyPr/>
            <a:lstStyle/>
            <a:p>
              <a:endParaRPr lang="en-GB"/>
            </a:p>
          </p:txBody>
        </p:sp>
      </p:grpSp>
      <p:sp>
        <p:nvSpPr>
          <p:cNvPr id="6" name="Freeform 6"/>
          <p:cNvSpPr/>
          <p:nvPr/>
        </p:nvSpPr>
        <p:spPr>
          <a:xfrm>
            <a:off x="0" y="275687"/>
            <a:ext cx="6006185" cy="6006185"/>
          </a:xfrm>
          <a:custGeom>
            <a:avLst/>
            <a:gdLst/>
            <a:ahLst/>
            <a:cxnLst/>
            <a:rect l="l" t="t" r="r" b="b"/>
            <a:pathLst>
              <a:path w="6006185" h="6006185">
                <a:moveTo>
                  <a:pt x="0" y="0"/>
                </a:moveTo>
                <a:lnTo>
                  <a:pt x="6006185" y="0"/>
                </a:lnTo>
                <a:lnTo>
                  <a:pt x="6006185" y="6006185"/>
                </a:lnTo>
                <a:lnTo>
                  <a:pt x="0" y="6006185"/>
                </a:lnTo>
                <a:lnTo>
                  <a:pt x="0" y="0"/>
                </a:lnTo>
                <a:close/>
              </a:path>
            </a:pathLst>
          </a:custGeom>
          <a:blipFill>
            <a:blip r:embed="rId2"/>
            <a:stretch>
              <a:fillRect/>
            </a:stretch>
          </a:blipFill>
        </p:spPr>
        <p:txBody>
          <a:bodyPr/>
          <a:lstStyle/>
          <a:p>
            <a:endParaRPr lang="en-GB"/>
          </a:p>
        </p:txBody>
      </p:sp>
      <p:sp>
        <p:nvSpPr>
          <p:cNvPr id="7" name="TextBox 7"/>
          <p:cNvSpPr txBox="1"/>
          <p:nvPr/>
        </p:nvSpPr>
        <p:spPr>
          <a:xfrm>
            <a:off x="0" y="9201150"/>
            <a:ext cx="5016782" cy="1047765"/>
          </a:xfrm>
          <a:prstGeom prst="rect">
            <a:avLst/>
          </a:prstGeom>
        </p:spPr>
        <p:txBody>
          <a:bodyPr lIns="0" tIns="0" rIns="0" bIns="0" rtlCol="0" anchor="t">
            <a:spAutoFit/>
          </a:bodyPr>
          <a:lstStyle/>
          <a:p>
            <a:pPr algn="l">
              <a:lnSpc>
                <a:spcPts val="2099"/>
              </a:lnSpc>
            </a:pPr>
            <a:r>
              <a:rPr lang="en-US" sz="1499" b="1">
                <a:solidFill>
                  <a:srgbClr val="FFFFFF"/>
                </a:solidFill>
                <a:latin typeface="Times New Roman Bold"/>
                <a:ea typeface="Times New Roman Bold"/>
                <a:cs typeface="Times New Roman Bold"/>
                <a:sym typeface="Times New Roman Bold"/>
              </a:rPr>
              <a:t>Fig 11.Sustainable Development Goals</a:t>
            </a:r>
          </a:p>
          <a:p>
            <a:pPr algn="l">
              <a:lnSpc>
                <a:spcPts val="2099"/>
              </a:lnSpc>
            </a:pPr>
            <a:r>
              <a:rPr lang="en-US" sz="1499" b="1">
                <a:solidFill>
                  <a:srgbClr val="FFFFFF"/>
                </a:solidFill>
                <a:latin typeface="Times New Roman Bold"/>
                <a:ea typeface="Times New Roman Bold"/>
                <a:cs typeface="Times New Roman Bold"/>
                <a:sym typeface="Times New Roman Bold"/>
              </a:rPr>
              <a:t>Source: https://www.cbs.dk/en/cbs-impact/areas/green-office/principles-responsible-management-education/our-commitment/sustainable-development-goals</a:t>
            </a:r>
          </a:p>
        </p:txBody>
      </p:sp>
      <p:sp>
        <p:nvSpPr>
          <p:cNvPr id="8" name="TextBox 8"/>
          <p:cNvSpPr txBox="1"/>
          <p:nvPr/>
        </p:nvSpPr>
        <p:spPr>
          <a:xfrm>
            <a:off x="7213538" y="-200025"/>
            <a:ext cx="11779540" cy="1844675"/>
          </a:xfrm>
          <a:prstGeom prst="rect">
            <a:avLst/>
          </a:prstGeom>
        </p:spPr>
        <p:txBody>
          <a:bodyPr lIns="0" tIns="0" rIns="0" bIns="0" rtlCol="0" anchor="t">
            <a:spAutoFit/>
          </a:bodyPr>
          <a:lstStyle/>
          <a:p>
            <a:pPr algn="ctr">
              <a:lnSpc>
                <a:spcPts val="7000"/>
              </a:lnSpc>
            </a:pPr>
            <a:r>
              <a:rPr lang="en-US" sz="5000" b="1">
                <a:solidFill>
                  <a:srgbClr val="000000"/>
                </a:solidFill>
                <a:latin typeface="Times New Roman Bold"/>
                <a:ea typeface="Times New Roman Bold"/>
                <a:cs typeface="Times New Roman Bold"/>
                <a:sym typeface="Times New Roman Bold"/>
              </a:rPr>
              <a:t>Potential solution for achieving the </a:t>
            </a:r>
          </a:p>
          <a:p>
            <a:pPr algn="ctr">
              <a:lnSpc>
                <a:spcPts val="7000"/>
              </a:lnSpc>
            </a:pPr>
            <a:r>
              <a:rPr lang="en-US" sz="5000" b="1">
                <a:solidFill>
                  <a:srgbClr val="000000"/>
                </a:solidFill>
                <a:latin typeface="Times New Roman Bold"/>
                <a:ea typeface="Times New Roman Bold"/>
                <a:cs typeface="Times New Roman Bold"/>
                <a:sym typeface="Times New Roman Bold"/>
              </a:rPr>
              <a:t>SDGs</a:t>
            </a:r>
          </a:p>
        </p:txBody>
      </p:sp>
      <p:sp>
        <p:nvSpPr>
          <p:cNvPr id="9" name="TextBox 9"/>
          <p:cNvSpPr txBox="1"/>
          <p:nvPr/>
        </p:nvSpPr>
        <p:spPr>
          <a:xfrm>
            <a:off x="7826715" y="1794217"/>
            <a:ext cx="9674116" cy="908050"/>
          </a:xfrm>
          <a:prstGeom prst="rect">
            <a:avLst/>
          </a:prstGeom>
        </p:spPr>
        <p:txBody>
          <a:bodyPr lIns="0" tIns="0" rIns="0" bIns="0" rtlCol="0" anchor="t">
            <a:spAutoFit/>
          </a:bodyPr>
          <a:lstStyle/>
          <a:p>
            <a:pPr algn="l">
              <a:lnSpc>
                <a:spcPts val="3499"/>
              </a:lnSpc>
            </a:pPr>
            <a:r>
              <a:rPr lang="en-US" sz="2499" b="1">
                <a:solidFill>
                  <a:srgbClr val="000000"/>
                </a:solidFill>
                <a:latin typeface="Times New Roman Bold"/>
                <a:ea typeface="Times New Roman Bold"/>
                <a:cs typeface="Times New Roman Bold"/>
                <a:sym typeface="Times New Roman Bold"/>
              </a:rPr>
              <a:t>Strong Governance &amp; Policy Reforms – </a:t>
            </a:r>
            <a:r>
              <a:rPr lang="en-US" sz="2499">
                <a:solidFill>
                  <a:srgbClr val="000000"/>
                </a:solidFill>
                <a:latin typeface="Times New Roman"/>
                <a:ea typeface="Times New Roman"/>
                <a:cs typeface="Times New Roman"/>
                <a:sym typeface="Times New Roman"/>
              </a:rPr>
              <a:t>Clear rules, anti-corruption policies, and policy enforcement (Morton et al., 2017).</a:t>
            </a:r>
          </a:p>
        </p:txBody>
      </p:sp>
      <p:sp>
        <p:nvSpPr>
          <p:cNvPr id="10" name="TextBox 10"/>
          <p:cNvSpPr txBox="1"/>
          <p:nvPr/>
        </p:nvSpPr>
        <p:spPr>
          <a:xfrm>
            <a:off x="7826715" y="2932888"/>
            <a:ext cx="10461285" cy="908050"/>
          </a:xfrm>
          <a:prstGeom prst="rect">
            <a:avLst/>
          </a:prstGeom>
        </p:spPr>
        <p:txBody>
          <a:bodyPr lIns="0" tIns="0" rIns="0" bIns="0" rtlCol="0" anchor="t">
            <a:spAutoFit/>
          </a:bodyPr>
          <a:lstStyle/>
          <a:p>
            <a:pPr algn="l">
              <a:lnSpc>
                <a:spcPts val="3499"/>
              </a:lnSpc>
            </a:pPr>
            <a:r>
              <a:rPr lang="en-US" sz="2499" b="1">
                <a:solidFill>
                  <a:srgbClr val="000000"/>
                </a:solidFill>
                <a:latin typeface="Times New Roman Bold"/>
                <a:ea typeface="Times New Roman Bold"/>
                <a:cs typeface="Times New Roman Bold"/>
                <a:sym typeface="Times New Roman Bold"/>
              </a:rPr>
              <a:t>Community-Led Development – </a:t>
            </a:r>
            <a:r>
              <a:rPr lang="en-US" sz="2499">
                <a:solidFill>
                  <a:srgbClr val="000000"/>
                </a:solidFill>
                <a:latin typeface="Times New Roman"/>
                <a:ea typeface="Times New Roman"/>
                <a:cs typeface="Times New Roman"/>
                <a:sym typeface="Times New Roman"/>
              </a:rPr>
              <a:t>Grassroots participation, local empowerment, and participatory decision-making (Stewart, 2015).</a:t>
            </a:r>
          </a:p>
        </p:txBody>
      </p:sp>
      <p:sp>
        <p:nvSpPr>
          <p:cNvPr id="11" name="TextBox 11"/>
          <p:cNvSpPr txBox="1"/>
          <p:nvPr/>
        </p:nvSpPr>
        <p:spPr>
          <a:xfrm>
            <a:off x="7417080" y="3951037"/>
            <a:ext cx="10351409" cy="908050"/>
          </a:xfrm>
          <a:prstGeom prst="rect">
            <a:avLst/>
          </a:prstGeom>
        </p:spPr>
        <p:txBody>
          <a:bodyPr lIns="0" tIns="0" rIns="0" bIns="0" rtlCol="0" anchor="t">
            <a:spAutoFit/>
          </a:bodyPr>
          <a:lstStyle/>
          <a:p>
            <a:pPr algn="ctr">
              <a:lnSpc>
                <a:spcPts val="3499"/>
              </a:lnSpc>
            </a:pPr>
            <a:r>
              <a:rPr lang="en-US" sz="2499" b="1">
                <a:solidFill>
                  <a:srgbClr val="000000"/>
                </a:solidFill>
                <a:latin typeface="Times New Roman Bold"/>
                <a:ea typeface="Times New Roman Bold"/>
                <a:cs typeface="Times New Roman Bold"/>
                <a:sym typeface="Times New Roman Bold"/>
              </a:rPr>
              <a:t>Public-Private Partnerships – </a:t>
            </a:r>
            <a:r>
              <a:rPr lang="en-US" sz="2499">
                <a:solidFill>
                  <a:srgbClr val="000000"/>
                </a:solidFill>
                <a:latin typeface="Times New Roman"/>
                <a:ea typeface="Times New Roman"/>
                <a:cs typeface="Times New Roman"/>
                <a:sym typeface="Times New Roman"/>
              </a:rPr>
              <a:t>Between government, private sector, and NGOs, cooperating to achieve SDGs (Australia SDG Report, 2018).</a:t>
            </a:r>
          </a:p>
        </p:txBody>
      </p:sp>
      <p:sp>
        <p:nvSpPr>
          <p:cNvPr id="12" name="TextBox 12"/>
          <p:cNvSpPr txBox="1"/>
          <p:nvPr/>
        </p:nvSpPr>
        <p:spPr>
          <a:xfrm>
            <a:off x="7826715" y="4916676"/>
            <a:ext cx="10027758" cy="908050"/>
          </a:xfrm>
          <a:prstGeom prst="rect">
            <a:avLst/>
          </a:prstGeom>
        </p:spPr>
        <p:txBody>
          <a:bodyPr lIns="0" tIns="0" rIns="0" bIns="0" rtlCol="0" anchor="t">
            <a:spAutoFit/>
          </a:bodyPr>
          <a:lstStyle/>
          <a:p>
            <a:pPr algn="l">
              <a:lnSpc>
                <a:spcPts val="3499"/>
              </a:lnSpc>
            </a:pPr>
            <a:r>
              <a:rPr lang="en-US" sz="2499" b="1">
                <a:solidFill>
                  <a:srgbClr val="000000"/>
                </a:solidFill>
                <a:latin typeface="Times New Roman Bold"/>
                <a:ea typeface="Times New Roman Bold"/>
                <a:cs typeface="Times New Roman Bold"/>
                <a:sym typeface="Times New Roman Bold"/>
              </a:rPr>
              <a:t>Green Infrastructure &amp; Renewable Energy – </a:t>
            </a:r>
            <a:r>
              <a:rPr lang="en-US" sz="2499">
                <a:solidFill>
                  <a:srgbClr val="000000"/>
                </a:solidFill>
                <a:latin typeface="Times New Roman"/>
                <a:ea typeface="Times New Roman"/>
                <a:cs typeface="Times New Roman"/>
                <a:sym typeface="Times New Roman"/>
              </a:rPr>
              <a:t>Green technology, renewable energy, and smart cities investments (Bangladesh).</a:t>
            </a:r>
          </a:p>
        </p:txBody>
      </p:sp>
      <p:sp>
        <p:nvSpPr>
          <p:cNvPr id="13" name="TextBox 13"/>
          <p:cNvSpPr txBox="1"/>
          <p:nvPr/>
        </p:nvSpPr>
        <p:spPr>
          <a:xfrm>
            <a:off x="7736558" y="6205481"/>
            <a:ext cx="10307606" cy="1275483"/>
          </a:xfrm>
          <a:prstGeom prst="rect">
            <a:avLst/>
          </a:prstGeom>
        </p:spPr>
        <p:txBody>
          <a:bodyPr lIns="0" tIns="0" rIns="0" bIns="0" rtlCol="0" anchor="t">
            <a:spAutoFit/>
          </a:bodyPr>
          <a:lstStyle/>
          <a:p>
            <a:pPr algn="l">
              <a:lnSpc>
                <a:spcPts val="3499"/>
              </a:lnSpc>
            </a:pPr>
            <a:r>
              <a:rPr lang="en-US" sz="2499" b="1">
                <a:solidFill>
                  <a:srgbClr val="000000"/>
                </a:solidFill>
                <a:latin typeface="Times New Roman Bold"/>
                <a:ea typeface="Times New Roman Bold"/>
                <a:cs typeface="Times New Roman Bold"/>
                <a:sym typeface="Times New Roman Bold"/>
              </a:rPr>
              <a:t>Education &amp; Skill Development –</a:t>
            </a:r>
            <a:r>
              <a:rPr lang="en-US" sz="2499">
                <a:solidFill>
                  <a:srgbClr val="000000"/>
                </a:solidFill>
                <a:latin typeface="Times New Roman"/>
                <a:ea typeface="Times New Roman"/>
                <a:cs typeface="Times New Roman"/>
                <a:sym typeface="Times New Roman"/>
              </a:rPr>
              <a:t> Enabling people with knowledge and skills to drive sustainable change (Globally).</a:t>
            </a:r>
          </a:p>
          <a:p>
            <a:pPr algn="ctr">
              <a:lnSpc>
                <a:spcPts val="2895"/>
              </a:lnSpc>
            </a:pPr>
            <a:endParaRPr lang="en-US" sz="2499">
              <a:solidFill>
                <a:srgbClr val="000000"/>
              </a:solidFill>
              <a:latin typeface="Times New Roman"/>
              <a:ea typeface="Times New Roman"/>
              <a:cs typeface="Times New Roman"/>
              <a:sym typeface="Times New Roman"/>
            </a:endParaRPr>
          </a:p>
        </p:txBody>
      </p:sp>
      <p:sp>
        <p:nvSpPr>
          <p:cNvPr id="14" name="TextBox 14"/>
          <p:cNvSpPr txBox="1"/>
          <p:nvPr/>
        </p:nvSpPr>
        <p:spPr>
          <a:xfrm>
            <a:off x="7826715" y="7325093"/>
            <a:ext cx="9874972" cy="1346200"/>
          </a:xfrm>
          <a:prstGeom prst="rect">
            <a:avLst/>
          </a:prstGeom>
        </p:spPr>
        <p:txBody>
          <a:bodyPr lIns="0" tIns="0" rIns="0" bIns="0" rtlCol="0" anchor="t">
            <a:spAutoFit/>
          </a:bodyPr>
          <a:lstStyle/>
          <a:p>
            <a:pPr algn="l">
              <a:lnSpc>
                <a:spcPts val="3499"/>
              </a:lnSpc>
            </a:pPr>
            <a:r>
              <a:rPr lang="en-US" sz="2499" b="1">
                <a:solidFill>
                  <a:srgbClr val="000000"/>
                </a:solidFill>
                <a:latin typeface="Times New Roman Bold"/>
                <a:ea typeface="Times New Roman Bold"/>
                <a:cs typeface="Times New Roman Bold"/>
                <a:sym typeface="Times New Roman Bold"/>
              </a:rPr>
              <a:t>Climate Action &amp; Resilience – </a:t>
            </a:r>
            <a:r>
              <a:rPr lang="en-US" sz="2499">
                <a:solidFill>
                  <a:srgbClr val="000000"/>
                </a:solidFill>
                <a:latin typeface="Times New Roman"/>
                <a:ea typeface="Times New Roman"/>
                <a:cs typeface="Times New Roman"/>
                <a:sym typeface="Times New Roman"/>
              </a:rPr>
              <a:t>Focusing on climate adaptation efforts, disaster risk preparedness, and sustainable agriculture (Crucial for Bangladesh &amp; the globe).</a:t>
            </a:r>
          </a:p>
        </p:txBody>
      </p:sp>
      <p:grpSp>
        <p:nvGrpSpPr>
          <p:cNvPr id="15" name="Group 15"/>
          <p:cNvGrpSpPr/>
          <p:nvPr/>
        </p:nvGrpSpPr>
        <p:grpSpPr>
          <a:xfrm>
            <a:off x="7417080" y="1904872"/>
            <a:ext cx="319478" cy="323166"/>
            <a:chOff x="0" y="0"/>
            <a:chExt cx="84142" cy="85114"/>
          </a:xfrm>
        </p:grpSpPr>
        <p:sp>
          <p:nvSpPr>
            <p:cNvPr id="16" name="Freeform 16"/>
            <p:cNvSpPr/>
            <p:nvPr/>
          </p:nvSpPr>
          <p:spPr>
            <a:xfrm>
              <a:off x="0" y="0"/>
              <a:ext cx="84142" cy="85114"/>
            </a:xfrm>
            <a:custGeom>
              <a:avLst/>
              <a:gdLst/>
              <a:ahLst/>
              <a:cxnLst/>
              <a:rect l="l" t="t" r="r" b="b"/>
              <a:pathLst>
                <a:path w="84142" h="85114">
                  <a:moveTo>
                    <a:pt x="0" y="0"/>
                  </a:moveTo>
                  <a:lnTo>
                    <a:pt x="84142" y="0"/>
                  </a:lnTo>
                  <a:lnTo>
                    <a:pt x="84142" y="85114"/>
                  </a:lnTo>
                  <a:lnTo>
                    <a:pt x="0" y="85114"/>
                  </a:lnTo>
                  <a:close/>
                </a:path>
              </a:pathLst>
            </a:custGeom>
            <a:solidFill>
              <a:srgbClr val="192954"/>
            </a:solidFill>
          </p:spPr>
          <p:txBody>
            <a:bodyPr/>
            <a:lstStyle/>
            <a:p>
              <a:endParaRPr lang="en-GB"/>
            </a:p>
          </p:txBody>
        </p:sp>
        <p:sp>
          <p:nvSpPr>
            <p:cNvPr id="17" name="TextBox 17"/>
            <p:cNvSpPr txBox="1"/>
            <p:nvPr/>
          </p:nvSpPr>
          <p:spPr>
            <a:xfrm>
              <a:off x="0" y="-38100"/>
              <a:ext cx="84142" cy="123214"/>
            </a:xfrm>
            <a:prstGeom prst="rect">
              <a:avLst/>
            </a:prstGeom>
          </p:spPr>
          <p:txBody>
            <a:bodyPr lIns="50800" tIns="50800" rIns="50800" bIns="50800" rtlCol="0" anchor="ctr"/>
            <a:lstStyle/>
            <a:p>
              <a:pPr algn="ctr">
                <a:lnSpc>
                  <a:spcPts val="2520"/>
                </a:lnSpc>
              </a:pPr>
              <a:endParaRPr/>
            </a:p>
          </p:txBody>
        </p:sp>
      </p:grpSp>
      <p:grpSp>
        <p:nvGrpSpPr>
          <p:cNvPr id="18" name="Group 18"/>
          <p:cNvGrpSpPr/>
          <p:nvPr/>
        </p:nvGrpSpPr>
        <p:grpSpPr>
          <a:xfrm>
            <a:off x="7417080" y="3028138"/>
            <a:ext cx="319478" cy="323166"/>
            <a:chOff x="0" y="0"/>
            <a:chExt cx="84142" cy="85114"/>
          </a:xfrm>
        </p:grpSpPr>
        <p:sp>
          <p:nvSpPr>
            <p:cNvPr id="19" name="Freeform 19"/>
            <p:cNvSpPr/>
            <p:nvPr/>
          </p:nvSpPr>
          <p:spPr>
            <a:xfrm>
              <a:off x="0" y="0"/>
              <a:ext cx="84142" cy="85114"/>
            </a:xfrm>
            <a:custGeom>
              <a:avLst/>
              <a:gdLst/>
              <a:ahLst/>
              <a:cxnLst/>
              <a:rect l="l" t="t" r="r" b="b"/>
              <a:pathLst>
                <a:path w="84142" h="85114">
                  <a:moveTo>
                    <a:pt x="0" y="0"/>
                  </a:moveTo>
                  <a:lnTo>
                    <a:pt x="84142" y="0"/>
                  </a:lnTo>
                  <a:lnTo>
                    <a:pt x="84142" y="85114"/>
                  </a:lnTo>
                  <a:lnTo>
                    <a:pt x="0" y="85114"/>
                  </a:lnTo>
                  <a:close/>
                </a:path>
              </a:pathLst>
            </a:custGeom>
            <a:solidFill>
              <a:srgbClr val="192954"/>
            </a:solidFill>
          </p:spPr>
          <p:txBody>
            <a:bodyPr/>
            <a:lstStyle/>
            <a:p>
              <a:endParaRPr lang="en-GB"/>
            </a:p>
          </p:txBody>
        </p:sp>
        <p:sp>
          <p:nvSpPr>
            <p:cNvPr id="20" name="TextBox 20"/>
            <p:cNvSpPr txBox="1"/>
            <p:nvPr/>
          </p:nvSpPr>
          <p:spPr>
            <a:xfrm>
              <a:off x="0" y="-38100"/>
              <a:ext cx="84142" cy="123214"/>
            </a:xfrm>
            <a:prstGeom prst="rect">
              <a:avLst/>
            </a:prstGeom>
          </p:spPr>
          <p:txBody>
            <a:bodyPr lIns="50800" tIns="50800" rIns="50800" bIns="50800" rtlCol="0" anchor="ctr"/>
            <a:lstStyle/>
            <a:p>
              <a:pPr algn="ctr">
                <a:lnSpc>
                  <a:spcPts val="2520"/>
                </a:lnSpc>
              </a:pPr>
              <a:endParaRPr/>
            </a:p>
          </p:txBody>
        </p:sp>
      </p:grpSp>
      <p:grpSp>
        <p:nvGrpSpPr>
          <p:cNvPr id="21" name="Group 21"/>
          <p:cNvGrpSpPr/>
          <p:nvPr/>
        </p:nvGrpSpPr>
        <p:grpSpPr>
          <a:xfrm>
            <a:off x="7417080" y="4046287"/>
            <a:ext cx="319478" cy="323166"/>
            <a:chOff x="0" y="0"/>
            <a:chExt cx="84142" cy="85114"/>
          </a:xfrm>
        </p:grpSpPr>
        <p:sp>
          <p:nvSpPr>
            <p:cNvPr id="22" name="Freeform 22"/>
            <p:cNvSpPr/>
            <p:nvPr/>
          </p:nvSpPr>
          <p:spPr>
            <a:xfrm>
              <a:off x="0" y="0"/>
              <a:ext cx="84142" cy="85114"/>
            </a:xfrm>
            <a:custGeom>
              <a:avLst/>
              <a:gdLst/>
              <a:ahLst/>
              <a:cxnLst/>
              <a:rect l="l" t="t" r="r" b="b"/>
              <a:pathLst>
                <a:path w="84142" h="85114">
                  <a:moveTo>
                    <a:pt x="0" y="0"/>
                  </a:moveTo>
                  <a:lnTo>
                    <a:pt x="84142" y="0"/>
                  </a:lnTo>
                  <a:lnTo>
                    <a:pt x="84142" y="85114"/>
                  </a:lnTo>
                  <a:lnTo>
                    <a:pt x="0" y="85114"/>
                  </a:lnTo>
                  <a:close/>
                </a:path>
              </a:pathLst>
            </a:custGeom>
            <a:solidFill>
              <a:srgbClr val="192954"/>
            </a:solidFill>
          </p:spPr>
          <p:txBody>
            <a:bodyPr/>
            <a:lstStyle/>
            <a:p>
              <a:endParaRPr lang="en-GB"/>
            </a:p>
          </p:txBody>
        </p:sp>
        <p:sp>
          <p:nvSpPr>
            <p:cNvPr id="23" name="TextBox 23"/>
            <p:cNvSpPr txBox="1"/>
            <p:nvPr/>
          </p:nvSpPr>
          <p:spPr>
            <a:xfrm>
              <a:off x="0" y="-38100"/>
              <a:ext cx="84142" cy="123214"/>
            </a:xfrm>
            <a:prstGeom prst="rect">
              <a:avLst/>
            </a:prstGeom>
          </p:spPr>
          <p:txBody>
            <a:bodyPr lIns="50800" tIns="50800" rIns="50800" bIns="50800" rtlCol="0" anchor="ctr"/>
            <a:lstStyle/>
            <a:p>
              <a:pPr algn="ctr">
                <a:lnSpc>
                  <a:spcPts val="2520"/>
                </a:lnSpc>
              </a:pPr>
              <a:endParaRPr/>
            </a:p>
          </p:txBody>
        </p:sp>
      </p:grpSp>
      <p:grpSp>
        <p:nvGrpSpPr>
          <p:cNvPr id="24" name="Group 24"/>
          <p:cNvGrpSpPr/>
          <p:nvPr/>
        </p:nvGrpSpPr>
        <p:grpSpPr>
          <a:xfrm>
            <a:off x="7417080" y="5069321"/>
            <a:ext cx="319478" cy="323166"/>
            <a:chOff x="0" y="0"/>
            <a:chExt cx="84142" cy="85114"/>
          </a:xfrm>
        </p:grpSpPr>
        <p:sp>
          <p:nvSpPr>
            <p:cNvPr id="25" name="Freeform 25"/>
            <p:cNvSpPr/>
            <p:nvPr/>
          </p:nvSpPr>
          <p:spPr>
            <a:xfrm>
              <a:off x="0" y="0"/>
              <a:ext cx="84142" cy="85114"/>
            </a:xfrm>
            <a:custGeom>
              <a:avLst/>
              <a:gdLst/>
              <a:ahLst/>
              <a:cxnLst/>
              <a:rect l="l" t="t" r="r" b="b"/>
              <a:pathLst>
                <a:path w="84142" h="85114">
                  <a:moveTo>
                    <a:pt x="0" y="0"/>
                  </a:moveTo>
                  <a:lnTo>
                    <a:pt x="84142" y="0"/>
                  </a:lnTo>
                  <a:lnTo>
                    <a:pt x="84142" y="85114"/>
                  </a:lnTo>
                  <a:lnTo>
                    <a:pt x="0" y="85114"/>
                  </a:lnTo>
                  <a:close/>
                </a:path>
              </a:pathLst>
            </a:custGeom>
            <a:solidFill>
              <a:srgbClr val="192954"/>
            </a:solidFill>
          </p:spPr>
          <p:txBody>
            <a:bodyPr/>
            <a:lstStyle/>
            <a:p>
              <a:endParaRPr lang="en-GB"/>
            </a:p>
          </p:txBody>
        </p:sp>
        <p:sp>
          <p:nvSpPr>
            <p:cNvPr id="26" name="TextBox 26"/>
            <p:cNvSpPr txBox="1"/>
            <p:nvPr/>
          </p:nvSpPr>
          <p:spPr>
            <a:xfrm>
              <a:off x="0" y="-38100"/>
              <a:ext cx="84142" cy="123214"/>
            </a:xfrm>
            <a:prstGeom prst="rect">
              <a:avLst/>
            </a:prstGeom>
          </p:spPr>
          <p:txBody>
            <a:bodyPr lIns="50800" tIns="50800" rIns="50800" bIns="50800" rtlCol="0" anchor="ctr"/>
            <a:lstStyle/>
            <a:p>
              <a:pPr algn="ctr">
                <a:lnSpc>
                  <a:spcPts val="2520"/>
                </a:lnSpc>
              </a:pPr>
              <a:endParaRPr/>
            </a:p>
          </p:txBody>
        </p:sp>
      </p:grpSp>
      <p:grpSp>
        <p:nvGrpSpPr>
          <p:cNvPr id="27" name="Group 27"/>
          <p:cNvGrpSpPr/>
          <p:nvPr/>
        </p:nvGrpSpPr>
        <p:grpSpPr>
          <a:xfrm>
            <a:off x="7417080" y="6300731"/>
            <a:ext cx="319478" cy="323166"/>
            <a:chOff x="0" y="0"/>
            <a:chExt cx="84142" cy="85114"/>
          </a:xfrm>
        </p:grpSpPr>
        <p:sp>
          <p:nvSpPr>
            <p:cNvPr id="28" name="Freeform 28"/>
            <p:cNvSpPr/>
            <p:nvPr/>
          </p:nvSpPr>
          <p:spPr>
            <a:xfrm>
              <a:off x="0" y="0"/>
              <a:ext cx="84142" cy="85114"/>
            </a:xfrm>
            <a:custGeom>
              <a:avLst/>
              <a:gdLst/>
              <a:ahLst/>
              <a:cxnLst/>
              <a:rect l="l" t="t" r="r" b="b"/>
              <a:pathLst>
                <a:path w="84142" h="85114">
                  <a:moveTo>
                    <a:pt x="0" y="0"/>
                  </a:moveTo>
                  <a:lnTo>
                    <a:pt x="84142" y="0"/>
                  </a:lnTo>
                  <a:lnTo>
                    <a:pt x="84142" y="85114"/>
                  </a:lnTo>
                  <a:lnTo>
                    <a:pt x="0" y="85114"/>
                  </a:lnTo>
                  <a:close/>
                </a:path>
              </a:pathLst>
            </a:custGeom>
            <a:solidFill>
              <a:srgbClr val="192954"/>
            </a:solidFill>
          </p:spPr>
          <p:txBody>
            <a:bodyPr/>
            <a:lstStyle/>
            <a:p>
              <a:endParaRPr lang="en-GB"/>
            </a:p>
          </p:txBody>
        </p:sp>
        <p:sp>
          <p:nvSpPr>
            <p:cNvPr id="29" name="TextBox 29"/>
            <p:cNvSpPr txBox="1"/>
            <p:nvPr/>
          </p:nvSpPr>
          <p:spPr>
            <a:xfrm>
              <a:off x="0" y="-38100"/>
              <a:ext cx="84142" cy="123214"/>
            </a:xfrm>
            <a:prstGeom prst="rect">
              <a:avLst/>
            </a:prstGeom>
          </p:spPr>
          <p:txBody>
            <a:bodyPr lIns="50800" tIns="50800" rIns="50800" bIns="50800" rtlCol="0" anchor="ctr"/>
            <a:lstStyle/>
            <a:p>
              <a:pPr algn="ctr">
                <a:lnSpc>
                  <a:spcPts val="2520"/>
                </a:lnSpc>
              </a:pPr>
              <a:endParaRPr/>
            </a:p>
          </p:txBody>
        </p:sp>
      </p:grpSp>
      <p:grpSp>
        <p:nvGrpSpPr>
          <p:cNvPr id="30" name="Group 30"/>
          <p:cNvGrpSpPr/>
          <p:nvPr/>
        </p:nvGrpSpPr>
        <p:grpSpPr>
          <a:xfrm>
            <a:off x="7417080" y="7420343"/>
            <a:ext cx="319478" cy="323166"/>
            <a:chOff x="0" y="0"/>
            <a:chExt cx="84142" cy="85114"/>
          </a:xfrm>
        </p:grpSpPr>
        <p:sp>
          <p:nvSpPr>
            <p:cNvPr id="31" name="Freeform 31"/>
            <p:cNvSpPr/>
            <p:nvPr/>
          </p:nvSpPr>
          <p:spPr>
            <a:xfrm>
              <a:off x="0" y="0"/>
              <a:ext cx="84142" cy="85114"/>
            </a:xfrm>
            <a:custGeom>
              <a:avLst/>
              <a:gdLst/>
              <a:ahLst/>
              <a:cxnLst/>
              <a:rect l="l" t="t" r="r" b="b"/>
              <a:pathLst>
                <a:path w="84142" h="85114">
                  <a:moveTo>
                    <a:pt x="0" y="0"/>
                  </a:moveTo>
                  <a:lnTo>
                    <a:pt x="84142" y="0"/>
                  </a:lnTo>
                  <a:lnTo>
                    <a:pt x="84142" y="85114"/>
                  </a:lnTo>
                  <a:lnTo>
                    <a:pt x="0" y="85114"/>
                  </a:lnTo>
                  <a:close/>
                </a:path>
              </a:pathLst>
            </a:custGeom>
            <a:solidFill>
              <a:srgbClr val="192954"/>
            </a:solidFill>
          </p:spPr>
          <p:txBody>
            <a:bodyPr/>
            <a:lstStyle/>
            <a:p>
              <a:endParaRPr lang="en-GB"/>
            </a:p>
          </p:txBody>
        </p:sp>
        <p:sp>
          <p:nvSpPr>
            <p:cNvPr id="32" name="TextBox 32"/>
            <p:cNvSpPr txBox="1"/>
            <p:nvPr/>
          </p:nvSpPr>
          <p:spPr>
            <a:xfrm>
              <a:off x="0" y="-38100"/>
              <a:ext cx="84142" cy="123214"/>
            </a:xfrm>
            <a:prstGeom prst="rect">
              <a:avLst/>
            </a:prstGeom>
          </p:spPr>
          <p:txBody>
            <a:bodyPr lIns="50800" tIns="50800" rIns="50800" bIns="50800" rtlCol="0" anchor="ctr"/>
            <a:lstStyle/>
            <a:p>
              <a:pPr algn="ctr">
                <a:lnSpc>
                  <a:spcPts val="2520"/>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99B951"/>
        </a:solidFill>
        <a:effectLst/>
      </p:bgPr>
    </p:bg>
    <p:spTree>
      <p:nvGrpSpPr>
        <p:cNvPr id="1" name=""/>
        <p:cNvGrpSpPr/>
        <p:nvPr/>
      </p:nvGrpSpPr>
      <p:grpSpPr>
        <a:xfrm>
          <a:off x="0" y="0"/>
          <a:ext cx="0" cy="0"/>
          <a:chOff x="0" y="0"/>
          <a:chExt cx="0" cy="0"/>
        </a:xfrm>
      </p:grpSpPr>
      <p:grpSp>
        <p:nvGrpSpPr>
          <p:cNvPr id="2" name="Group 2"/>
          <p:cNvGrpSpPr/>
          <p:nvPr/>
        </p:nvGrpSpPr>
        <p:grpSpPr>
          <a:xfrm rot="6837481">
            <a:off x="-3407716" y="-948693"/>
            <a:ext cx="14240601" cy="10403814"/>
            <a:chOff x="0" y="0"/>
            <a:chExt cx="22422108" cy="16381011"/>
          </a:xfrm>
        </p:grpSpPr>
        <p:sp>
          <p:nvSpPr>
            <p:cNvPr id="3" name="Freeform 3"/>
            <p:cNvSpPr/>
            <p:nvPr/>
          </p:nvSpPr>
          <p:spPr>
            <a:xfrm>
              <a:off x="0" y="0"/>
              <a:ext cx="22422109" cy="16381011"/>
            </a:xfrm>
            <a:custGeom>
              <a:avLst/>
              <a:gdLst/>
              <a:ahLst/>
              <a:cxnLst/>
              <a:rect l="l" t="t" r="r" b="b"/>
              <a:pathLst>
                <a:path w="22422109" h="16381011">
                  <a:moveTo>
                    <a:pt x="0" y="0"/>
                  </a:moveTo>
                  <a:lnTo>
                    <a:pt x="22422109" y="0"/>
                  </a:lnTo>
                  <a:lnTo>
                    <a:pt x="22422109" y="16381011"/>
                  </a:lnTo>
                  <a:lnTo>
                    <a:pt x="0" y="16381011"/>
                  </a:lnTo>
                  <a:close/>
                </a:path>
              </a:pathLst>
            </a:custGeom>
            <a:solidFill>
              <a:srgbClr val="192954"/>
            </a:solidFill>
          </p:spPr>
          <p:txBody>
            <a:bodyPr/>
            <a:lstStyle/>
            <a:p>
              <a:endParaRPr lang="en-GB"/>
            </a:p>
          </p:txBody>
        </p:sp>
      </p:grpSp>
      <p:sp>
        <p:nvSpPr>
          <p:cNvPr id="4" name="AutoShape 4"/>
          <p:cNvSpPr/>
          <p:nvPr/>
        </p:nvSpPr>
        <p:spPr>
          <a:xfrm>
            <a:off x="1684976" y="8658293"/>
            <a:ext cx="14918048" cy="0"/>
          </a:xfrm>
          <a:prstGeom prst="line">
            <a:avLst/>
          </a:prstGeom>
          <a:ln w="9525" cap="rnd">
            <a:solidFill>
              <a:srgbClr val="000000"/>
            </a:solidFill>
            <a:prstDash val="solid"/>
            <a:headEnd type="none" w="sm" len="sm"/>
            <a:tailEnd type="none" w="sm" len="sm"/>
          </a:ln>
        </p:spPr>
        <p:txBody>
          <a:bodyPr/>
          <a:lstStyle/>
          <a:p>
            <a:endParaRPr lang="en-GB"/>
          </a:p>
        </p:txBody>
      </p:sp>
      <p:grpSp>
        <p:nvGrpSpPr>
          <p:cNvPr id="5" name="Group 5"/>
          <p:cNvGrpSpPr/>
          <p:nvPr/>
        </p:nvGrpSpPr>
        <p:grpSpPr>
          <a:xfrm>
            <a:off x="8328452" y="6320898"/>
            <a:ext cx="4064212" cy="621044"/>
            <a:chOff x="0" y="0"/>
            <a:chExt cx="1374808" cy="210082"/>
          </a:xfrm>
        </p:grpSpPr>
        <p:sp>
          <p:nvSpPr>
            <p:cNvPr id="6" name="Freeform 6"/>
            <p:cNvSpPr/>
            <p:nvPr/>
          </p:nvSpPr>
          <p:spPr>
            <a:xfrm>
              <a:off x="0" y="0"/>
              <a:ext cx="1374808" cy="210082"/>
            </a:xfrm>
            <a:custGeom>
              <a:avLst/>
              <a:gdLst/>
              <a:ahLst/>
              <a:cxnLst/>
              <a:rect l="l" t="t" r="r" b="b"/>
              <a:pathLst>
                <a:path w="1374808" h="210082">
                  <a:moveTo>
                    <a:pt x="0" y="0"/>
                  </a:moveTo>
                  <a:lnTo>
                    <a:pt x="1374808" y="0"/>
                  </a:lnTo>
                  <a:lnTo>
                    <a:pt x="1374808" y="210082"/>
                  </a:lnTo>
                  <a:lnTo>
                    <a:pt x="0" y="210082"/>
                  </a:lnTo>
                  <a:close/>
                </a:path>
              </a:pathLst>
            </a:custGeom>
            <a:solidFill>
              <a:srgbClr val="192954"/>
            </a:solidFill>
          </p:spPr>
          <p:txBody>
            <a:bodyPr/>
            <a:lstStyle/>
            <a:p>
              <a:endParaRPr lang="en-GB"/>
            </a:p>
          </p:txBody>
        </p:sp>
      </p:grpSp>
      <p:grpSp>
        <p:nvGrpSpPr>
          <p:cNvPr id="7" name="Group 7"/>
          <p:cNvGrpSpPr/>
          <p:nvPr/>
        </p:nvGrpSpPr>
        <p:grpSpPr>
          <a:xfrm>
            <a:off x="9286221" y="4713550"/>
            <a:ext cx="3106444" cy="621044"/>
            <a:chOff x="0" y="0"/>
            <a:chExt cx="1050822" cy="210082"/>
          </a:xfrm>
        </p:grpSpPr>
        <p:sp>
          <p:nvSpPr>
            <p:cNvPr id="8" name="Freeform 8"/>
            <p:cNvSpPr/>
            <p:nvPr/>
          </p:nvSpPr>
          <p:spPr>
            <a:xfrm>
              <a:off x="0" y="0"/>
              <a:ext cx="1050822" cy="210082"/>
            </a:xfrm>
            <a:custGeom>
              <a:avLst/>
              <a:gdLst/>
              <a:ahLst/>
              <a:cxnLst/>
              <a:rect l="l" t="t" r="r" b="b"/>
              <a:pathLst>
                <a:path w="1050822" h="210082">
                  <a:moveTo>
                    <a:pt x="0" y="0"/>
                  </a:moveTo>
                  <a:lnTo>
                    <a:pt x="1050822" y="0"/>
                  </a:lnTo>
                  <a:lnTo>
                    <a:pt x="1050822" y="210082"/>
                  </a:lnTo>
                  <a:lnTo>
                    <a:pt x="0" y="210082"/>
                  </a:lnTo>
                  <a:close/>
                </a:path>
              </a:pathLst>
            </a:custGeom>
            <a:solidFill>
              <a:srgbClr val="192954"/>
            </a:solidFill>
          </p:spPr>
          <p:txBody>
            <a:bodyPr/>
            <a:lstStyle/>
            <a:p>
              <a:endParaRPr lang="en-GB"/>
            </a:p>
          </p:txBody>
        </p:sp>
      </p:grpSp>
      <p:grpSp>
        <p:nvGrpSpPr>
          <p:cNvPr id="9" name="Group 9"/>
          <p:cNvGrpSpPr/>
          <p:nvPr/>
        </p:nvGrpSpPr>
        <p:grpSpPr>
          <a:xfrm>
            <a:off x="9286221" y="3106202"/>
            <a:ext cx="3106444" cy="621044"/>
            <a:chOff x="0" y="0"/>
            <a:chExt cx="1050822" cy="210082"/>
          </a:xfrm>
        </p:grpSpPr>
        <p:sp>
          <p:nvSpPr>
            <p:cNvPr id="10" name="Freeform 10"/>
            <p:cNvSpPr/>
            <p:nvPr/>
          </p:nvSpPr>
          <p:spPr>
            <a:xfrm>
              <a:off x="0" y="0"/>
              <a:ext cx="1050822" cy="210082"/>
            </a:xfrm>
            <a:custGeom>
              <a:avLst/>
              <a:gdLst/>
              <a:ahLst/>
              <a:cxnLst/>
              <a:rect l="l" t="t" r="r" b="b"/>
              <a:pathLst>
                <a:path w="1050822" h="210082">
                  <a:moveTo>
                    <a:pt x="0" y="0"/>
                  </a:moveTo>
                  <a:lnTo>
                    <a:pt x="1050822" y="0"/>
                  </a:lnTo>
                  <a:lnTo>
                    <a:pt x="1050822" y="210082"/>
                  </a:lnTo>
                  <a:lnTo>
                    <a:pt x="0" y="210082"/>
                  </a:lnTo>
                  <a:close/>
                </a:path>
              </a:pathLst>
            </a:custGeom>
            <a:solidFill>
              <a:srgbClr val="192954"/>
            </a:solidFill>
          </p:spPr>
          <p:txBody>
            <a:bodyPr/>
            <a:lstStyle/>
            <a:p>
              <a:endParaRPr lang="en-GB"/>
            </a:p>
          </p:txBody>
        </p:sp>
      </p:grpSp>
      <p:sp>
        <p:nvSpPr>
          <p:cNvPr id="11" name="TextBox 11"/>
          <p:cNvSpPr txBox="1"/>
          <p:nvPr/>
        </p:nvSpPr>
        <p:spPr>
          <a:xfrm>
            <a:off x="807095" y="2899997"/>
            <a:ext cx="7352819" cy="2124075"/>
          </a:xfrm>
          <a:prstGeom prst="rect">
            <a:avLst/>
          </a:prstGeom>
        </p:spPr>
        <p:txBody>
          <a:bodyPr lIns="0" tIns="0" rIns="0" bIns="0" rtlCol="0" anchor="t">
            <a:spAutoFit/>
          </a:bodyPr>
          <a:lstStyle/>
          <a:p>
            <a:pPr algn="l">
              <a:lnSpc>
                <a:spcPts val="4200"/>
              </a:lnSpc>
              <a:spcBef>
                <a:spcPct val="0"/>
              </a:spcBef>
            </a:pPr>
            <a:r>
              <a:rPr lang="en-US" sz="3000">
                <a:solidFill>
                  <a:srgbClr val="F4F4F4"/>
                </a:solidFill>
                <a:latin typeface="Aileron"/>
                <a:ea typeface="Aileron"/>
                <a:cs typeface="Aileron"/>
                <a:sym typeface="Aileron"/>
              </a:rPr>
              <a:t>"With targeted policy, global cooperation, and green innovation, Bangladesh can turn challenges into opportunities for inclusive, resilient growth by 2030."</a:t>
            </a:r>
          </a:p>
        </p:txBody>
      </p:sp>
      <p:sp>
        <p:nvSpPr>
          <p:cNvPr id="12" name="TextBox 12"/>
          <p:cNvSpPr txBox="1"/>
          <p:nvPr/>
        </p:nvSpPr>
        <p:spPr>
          <a:xfrm>
            <a:off x="1684976" y="1363614"/>
            <a:ext cx="7036912" cy="878205"/>
          </a:xfrm>
          <a:prstGeom prst="rect">
            <a:avLst/>
          </a:prstGeom>
        </p:spPr>
        <p:txBody>
          <a:bodyPr lIns="0" tIns="0" rIns="0" bIns="0" rtlCol="0" anchor="t">
            <a:spAutoFit/>
          </a:bodyPr>
          <a:lstStyle/>
          <a:p>
            <a:pPr algn="l">
              <a:lnSpc>
                <a:spcPts val="5880"/>
              </a:lnSpc>
            </a:pPr>
            <a:r>
              <a:rPr lang="en-US" sz="5600" b="1">
                <a:solidFill>
                  <a:srgbClr val="F4F4F4"/>
                </a:solidFill>
                <a:latin typeface="Kollektif Bold"/>
                <a:ea typeface="Kollektif Bold"/>
                <a:cs typeface="Kollektif Bold"/>
                <a:sym typeface="Kollektif Bold"/>
              </a:rPr>
              <a:t>Conclusion</a:t>
            </a:r>
          </a:p>
        </p:txBody>
      </p:sp>
      <p:sp>
        <p:nvSpPr>
          <p:cNvPr id="13" name="TextBox 13"/>
          <p:cNvSpPr txBox="1"/>
          <p:nvPr/>
        </p:nvSpPr>
        <p:spPr>
          <a:xfrm>
            <a:off x="12680519" y="2929997"/>
            <a:ext cx="3787424" cy="935355"/>
          </a:xfrm>
          <a:prstGeom prst="rect">
            <a:avLst/>
          </a:prstGeom>
        </p:spPr>
        <p:txBody>
          <a:bodyPr lIns="0" tIns="0" rIns="0" bIns="0" rtlCol="0" anchor="t">
            <a:spAutoFit/>
          </a:bodyPr>
          <a:lstStyle/>
          <a:p>
            <a:pPr algn="l">
              <a:lnSpc>
                <a:spcPts val="2520"/>
              </a:lnSpc>
            </a:pPr>
            <a:r>
              <a:rPr lang="en-US" sz="1800">
                <a:solidFill>
                  <a:srgbClr val="192954"/>
                </a:solidFill>
                <a:latin typeface="Aileron"/>
                <a:ea typeface="Aileron"/>
                <a:cs typeface="Aileron"/>
                <a:sym typeface="Aileron"/>
              </a:rPr>
              <a:t>Bangladesh is making progress with SDG implementation, but there are also significant challenges.</a:t>
            </a:r>
          </a:p>
        </p:txBody>
      </p:sp>
      <p:sp>
        <p:nvSpPr>
          <p:cNvPr id="14" name="TextBox 14"/>
          <p:cNvSpPr txBox="1"/>
          <p:nvPr/>
        </p:nvSpPr>
        <p:spPr>
          <a:xfrm>
            <a:off x="12680519" y="4537344"/>
            <a:ext cx="3787424" cy="1249680"/>
          </a:xfrm>
          <a:prstGeom prst="rect">
            <a:avLst/>
          </a:prstGeom>
        </p:spPr>
        <p:txBody>
          <a:bodyPr lIns="0" tIns="0" rIns="0" bIns="0" rtlCol="0" anchor="t">
            <a:spAutoFit/>
          </a:bodyPr>
          <a:lstStyle/>
          <a:p>
            <a:pPr algn="l">
              <a:lnSpc>
                <a:spcPts val="2520"/>
              </a:lnSpc>
            </a:pPr>
            <a:r>
              <a:rPr lang="en-US" sz="1800">
                <a:solidFill>
                  <a:srgbClr val="192954"/>
                </a:solidFill>
                <a:latin typeface="Aileron"/>
                <a:ea typeface="Aileron"/>
                <a:cs typeface="Aileron"/>
                <a:sym typeface="Aileron"/>
              </a:rPr>
              <a:t>Bangladesh's two most important issues under the SDG agenda are climate change and poverty.</a:t>
            </a:r>
          </a:p>
          <a:p>
            <a:pPr algn="l">
              <a:lnSpc>
                <a:spcPts val="2520"/>
              </a:lnSpc>
            </a:pPr>
            <a:endParaRPr lang="en-US" sz="1800">
              <a:solidFill>
                <a:srgbClr val="192954"/>
              </a:solidFill>
              <a:latin typeface="Aileron"/>
              <a:ea typeface="Aileron"/>
              <a:cs typeface="Aileron"/>
              <a:sym typeface="Aileron"/>
            </a:endParaRPr>
          </a:p>
        </p:txBody>
      </p:sp>
      <p:sp>
        <p:nvSpPr>
          <p:cNvPr id="15" name="TextBox 15"/>
          <p:cNvSpPr txBox="1"/>
          <p:nvPr/>
        </p:nvSpPr>
        <p:spPr>
          <a:xfrm>
            <a:off x="12680519" y="5959744"/>
            <a:ext cx="3787424" cy="1249680"/>
          </a:xfrm>
          <a:prstGeom prst="rect">
            <a:avLst/>
          </a:prstGeom>
        </p:spPr>
        <p:txBody>
          <a:bodyPr lIns="0" tIns="0" rIns="0" bIns="0" rtlCol="0" anchor="t">
            <a:spAutoFit/>
          </a:bodyPr>
          <a:lstStyle/>
          <a:p>
            <a:pPr algn="l">
              <a:lnSpc>
                <a:spcPts val="2520"/>
              </a:lnSpc>
            </a:pPr>
            <a:r>
              <a:rPr lang="en-US" sz="1800">
                <a:solidFill>
                  <a:srgbClr val="192954"/>
                </a:solidFill>
                <a:latin typeface="Aileron"/>
                <a:ea typeface="Aileron"/>
                <a:cs typeface="Aileron"/>
                <a:sym typeface="Aileron"/>
              </a:rPr>
              <a:t>Solutions require committed investments in governance, education, women's empowerment, and sustainability.</a:t>
            </a:r>
          </a:p>
        </p:txBody>
      </p:sp>
      <p:sp>
        <p:nvSpPr>
          <p:cNvPr id="16" name="TextBox 16"/>
          <p:cNvSpPr txBox="1"/>
          <p:nvPr/>
        </p:nvSpPr>
        <p:spPr>
          <a:xfrm>
            <a:off x="10073093" y="3254799"/>
            <a:ext cx="2197381" cy="314325"/>
          </a:xfrm>
          <a:prstGeom prst="rect">
            <a:avLst/>
          </a:prstGeom>
        </p:spPr>
        <p:txBody>
          <a:bodyPr lIns="0" tIns="0" rIns="0" bIns="0" rtlCol="0" anchor="t">
            <a:spAutoFit/>
          </a:bodyPr>
          <a:lstStyle/>
          <a:p>
            <a:pPr marL="0" lvl="0" indent="0" algn="ctr">
              <a:lnSpc>
                <a:spcPts val="2419"/>
              </a:lnSpc>
            </a:pPr>
            <a:r>
              <a:rPr lang="en-US" sz="2016" b="1" spc="120">
                <a:solidFill>
                  <a:srgbClr val="F1EFE1"/>
                </a:solidFill>
                <a:latin typeface="Aileron Heavy"/>
                <a:ea typeface="Aileron Heavy"/>
                <a:cs typeface="Aileron Heavy"/>
                <a:sym typeface="Aileron Heavy"/>
              </a:rPr>
              <a:t>HIGHLIGHT 1</a:t>
            </a:r>
          </a:p>
        </p:txBody>
      </p:sp>
      <p:sp>
        <p:nvSpPr>
          <p:cNvPr id="17" name="TextBox 17"/>
          <p:cNvSpPr txBox="1"/>
          <p:nvPr/>
        </p:nvSpPr>
        <p:spPr>
          <a:xfrm>
            <a:off x="10073093" y="4862147"/>
            <a:ext cx="2197381" cy="314325"/>
          </a:xfrm>
          <a:prstGeom prst="rect">
            <a:avLst/>
          </a:prstGeom>
        </p:spPr>
        <p:txBody>
          <a:bodyPr lIns="0" tIns="0" rIns="0" bIns="0" rtlCol="0" anchor="t">
            <a:spAutoFit/>
          </a:bodyPr>
          <a:lstStyle/>
          <a:p>
            <a:pPr marL="0" lvl="0" indent="0" algn="ctr">
              <a:lnSpc>
                <a:spcPts val="2419"/>
              </a:lnSpc>
            </a:pPr>
            <a:r>
              <a:rPr lang="en-US" sz="2016" b="1" spc="120">
                <a:solidFill>
                  <a:srgbClr val="F1EFE1"/>
                </a:solidFill>
                <a:latin typeface="Aileron Heavy"/>
                <a:ea typeface="Aileron Heavy"/>
                <a:cs typeface="Aileron Heavy"/>
                <a:sym typeface="Aileron Heavy"/>
              </a:rPr>
              <a:t>HIGHLIGHT 2</a:t>
            </a:r>
          </a:p>
        </p:txBody>
      </p:sp>
      <p:sp>
        <p:nvSpPr>
          <p:cNvPr id="18" name="TextBox 18"/>
          <p:cNvSpPr txBox="1"/>
          <p:nvPr/>
        </p:nvSpPr>
        <p:spPr>
          <a:xfrm>
            <a:off x="10073093" y="6446472"/>
            <a:ext cx="2197381" cy="314325"/>
          </a:xfrm>
          <a:prstGeom prst="rect">
            <a:avLst/>
          </a:prstGeom>
        </p:spPr>
        <p:txBody>
          <a:bodyPr lIns="0" tIns="0" rIns="0" bIns="0" rtlCol="0" anchor="t">
            <a:spAutoFit/>
          </a:bodyPr>
          <a:lstStyle/>
          <a:p>
            <a:pPr marL="0" lvl="0" indent="0" algn="ctr">
              <a:lnSpc>
                <a:spcPts val="2419"/>
              </a:lnSpc>
            </a:pPr>
            <a:r>
              <a:rPr lang="en-US" sz="2016" b="1" spc="120">
                <a:solidFill>
                  <a:srgbClr val="F1EFE1"/>
                </a:solidFill>
                <a:latin typeface="Aileron Heavy"/>
                <a:ea typeface="Aileron Heavy"/>
                <a:cs typeface="Aileron Heavy"/>
                <a:sym typeface="Aileron Heavy"/>
              </a:rPr>
              <a:t>HIGHLIGHT 3</a:t>
            </a:r>
          </a:p>
        </p:txBody>
      </p:sp>
      <p:grpSp>
        <p:nvGrpSpPr>
          <p:cNvPr id="19" name="Group 19"/>
          <p:cNvGrpSpPr/>
          <p:nvPr/>
        </p:nvGrpSpPr>
        <p:grpSpPr>
          <a:xfrm>
            <a:off x="7935016" y="6237984"/>
            <a:ext cx="786872" cy="786872"/>
            <a:chOff x="0" y="0"/>
            <a:chExt cx="1049163" cy="1049163"/>
          </a:xfrm>
        </p:grpSpPr>
        <p:grpSp>
          <p:nvGrpSpPr>
            <p:cNvPr id="20" name="Group 20"/>
            <p:cNvGrpSpPr/>
            <p:nvPr/>
          </p:nvGrpSpPr>
          <p:grpSpPr>
            <a:xfrm>
              <a:off x="0" y="0"/>
              <a:ext cx="1049163" cy="1049163"/>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CC30B"/>
              </a:solidFill>
            </p:spPr>
            <p:txBody>
              <a:bodyPr/>
              <a:lstStyle/>
              <a:p>
                <a:endParaRPr lang="en-GB"/>
              </a:p>
            </p:txBody>
          </p:sp>
        </p:grpSp>
        <p:sp>
          <p:nvSpPr>
            <p:cNvPr id="22" name="Freeform 22"/>
            <p:cNvSpPr/>
            <p:nvPr/>
          </p:nvSpPr>
          <p:spPr>
            <a:xfrm>
              <a:off x="186668" y="186668"/>
              <a:ext cx="675827" cy="675827"/>
            </a:xfrm>
            <a:custGeom>
              <a:avLst/>
              <a:gdLst/>
              <a:ahLst/>
              <a:cxnLst/>
              <a:rect l="l" t="t" r="r" b="b"/>
              <a:pathLst>
                <a:path w="675827" h="675827">
                  <a:moveTo>
                    <a:pt x="0" y="0"/>
                  </a:moveTo>
                  <a:lnTo>
                    <a:pt x="675827" y="0"/>
                  </a:lnTo>
                  <a:lnTo>
                    <a:pt x="675827" y="675827"/>
                  </a:lnTo>
                  <a:lnTo>
                    <a:pt x="0" y="6758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grpSp>
        <p:nvGrpSpPr>
          <p:cNvPr id="23" name="Group 23"/>
          <p:cNvGrpSpPr/>
          <p:nvPr/>
        </p:nvGrpSpPr>
        <p:grpSpPr>
          <a:xfrm>
            <a:off x="8721888" y="4630636"/>
            <a:ext cx="786872" cy="786872"/>
            <a:chOff x="0" y="0"/>
            <a:chExt cx="1049163" cy="1049163"/>
          </a:xfrm>
        </p:grpSpPr>
        <p:grpSp>
          <p:nvGrpSpPr>
            <p:cNvPr id="24" name="Group 24"/>
            <p:cNvGrpSpPr/>
            <p:nvPr/>
          </p:nvGrpSpPr>
          <p:grpSpPr>
            <a:xfrm>
              <a:off x="0" y="0"/>
              <a:ext cx="1049163" cy="1049163"/>
              <a:chOff x="0" y="0"/>
              <a:chExt cx="6350000" cy="6350000"/>
            </a:xfrm>
          </p:grpSpPr>
          <p:sp>
            <p:nvSpPr>
              <p:cNvPr id="25" name="Freeform 2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D6925"/>
              </a:solidFill>
            </p:spPr>
            <p:txBody>
              <a:bodyPr/>
              <a:lstStyle/>
              <a:p>
                <a:endParaRPr lang="en-GB"/>
              </a:p>
            </p:txBody>
          </p:sp>
        </p:grpSp>
        <p:sp>
          <p:nvSpPr>
            <p:cNvPr id="26" name="Freeform 26"/>
            <p:cNvSpPr/>
            <p:nvPr/>
          </p:nvSpPr>
          <p:spPr>
            <a:xfrm>
              <a:off x="271638" y="253136"/>
              <a:ext cx="541127" cy="541127"/>
            </a:xfrm>
            <a:custGeom>
              <a:avLst/>
              <a:gdLst/>
              <a:ahLst/>
              <a:cxnLst/>
              <a:rect l="l" t="t" r="r" b="b"/>
              <a:pathLst>
                <a:path w="541127" h="541127">
                  <a:moveTo>
                    <a:pt x="0" y="0"/>
                  </a:moveTo>
                  <a:lnTo>
                    <a:pt x="541127" y="0"/>
                  </a:lnTo>
                  <a:lnTo>
                    <a:pt x="541127" y="541127"/>
                  </a:lnTo>
                  <a:lnTo>
                    <a:pt x="0" y="5411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grpSp>
      <p:grpSp>
        <p:nvGrpSpPr>
          <p:cNvPr id="27" name="Group 27"/>
          <p:cNvGrpSpPr/>
          <p:nvPr/>
        </p:nvGrpSpPr>
        <p:grpSpPr>
          <a:xfrm>
            <a:off x="9286221" y="3023288"/>
            <a:ext cx="786872" cy="786872"/>
            <a:chOff x="0" y="0"/>
            <a:chExt cx="1049163" cy="1049163"/>
          </a:xfrm>
        </p:grpSpPr>
        <p:grpSp>
          <p:nvGrpSpPr>
            <p:cNvPr id="28" name="Group 28"/>
            <p:cNvGrpSpPr/>
            <p:nvPr/>
          </p:nvGrpSpPr>
          <p:grpSpPr>
            <a:xfrm>
              <a:off x="0" y="0"/>
              <a:ext cx="1049163" cy="1049163"/>
              <a:chOff x="0" y="0"/>
              <a:chExt cx="6350000" cy="6350000"/>
            </a:xfrm>
          </p:grpSpPr>
          <p:sp>
            <p:nvSpPr>
              <p:cNvPr id="29" name="Freeform 2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5192D"/>
              </a:solidFill>
            </p:spPr>
            <p:txBody>
              <a:bodyPr/>
              <a:lstStyle/>
              <a:p>
                <a:endParaRPr lang="en-GB"/>
              </a:p>
            </p:txBody>
          </p:sp>
        </p:grpSp>
        <p:sp>
          <p:nvSpPr>
            <p:cNvPr id="30" name="Freeform 30"/>
            <p:cNvSpPr/>
            <p:nvPr/>
          </p:nvSpPr>
          <p:spPr>
            <a:xfrm>
              <a:off x="236398" y="290891"/>
              <a:ext cx="576367" cy="467382"/>
            </a:xfrm>
            <a:custGeom>
              <a:avLst/>
              <a:gdLst/>
              <a:ahLst/>
              <a:cxnLst/>
              <a:rect l="l" t="t" r="r" b="b"/>
              <a:pathLst>
                <a:path w="576367" h="467382">
                  <a:moveTo>
                    <a:pt x="0" y="0"/>
                  </a:moveTo>
                  <a:lnTo>
                    <a:pt x="576367" y="0"/>
                  </a:lnTo>
                  <a:lnTo>
                    <a:pt x="576367" y="467381"/>
                  </a:lnTo>
                  <a:lnTo>
                    <a:pt x="0" y="46738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EFE1"/>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2965015" y="-3462622"/>
            <a:ext cx="8997039" cy="8982644"/>
            <a:chOff x="0" y="0"/>
            <a:chExt cx="6350000" cy="6339840"/>
          </a:xfrm>
        </p:grpSpPr>
        <p:sp>
          <p:nvSpPr>
            <p:cNvPr id="3" name="Freeform 3"/>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192954"/>
            </a:solidFill>
          </p:spPr>
          <p:txBody>
            <a:bodyPr/>
            <a:lstStyle/>
            <a:p>
              <a:endParaRPr lang="en-GB"/>
            </a:p>
          </p:txBody>
        </p:sp>
      </p:grpSp>
      <p:grpSp>
        <p:nvGrpSpPr>
          <p:cNvPr id="4" name="Group 4"/>
          <p:cNvGrpSpPr/>
          <p:nvPr/>
        </p:nvGrpSpPr>
        <p:grpSpPr>
          <a:xfrm rot="8100000">
            <a:off x="7773132" y="7642965"/>
            <a:ext cx="20124627" cy="8722700"/>
            <a:chOff x="0" y="0"/>
            <a:chExt cx="31686624" cy="13734063"/>
          </a:xfrm>
        </p:grpSpPr>
        <p:sp>
          <p:nvSpPr>
            <p:cNvPr id="5" name="Freeform 5"/>
            <p:cNvSpPr/>
            <p:nvPr/>
          </p:nvSpPr>
          <p:spPr>
            <a:xfrm>
              <a:off x="0" y="0"/>
              <a:ext cx="31686624" cy="13734062"/>
            </a:xfrm>
            <a:custGeom>
              <a:avLst/>
              <a:gdLst/>
              <a:ahLst/>
              <a:cxnLst/>
              <a:rect l="l" t="t" r="r" b="b"/>
              <a:pathLst>
                <a:path w="31686624" h="13734062">
                  <a:moveTo>
                    <a:pt x="0" y="0"/>
                  </a:moveTo>
                  <a:lnTo>
                    <a:pt x="31686624" y="0"/>
                  </a:lnTo>
                  <a:lnTo>
                    <a:pt x="31686624" y="13734062"/>
                  </a:lnTo>
                  <a:lnTo>
                    <a:pt x="0" y="13734062"/>
                  </a:lnTo>
                  <a:close/>
                </a:path>
              </a:pathLst>
            </a:custGeom>
            <a:solidFill>
              <a:srgbClr val="99B951"/>
            </a:solidFill>
          </p:spPr>
          <p:txBody>
            <a:bodyPr/>
            <a:lstStyle/>
            <a:p>
              <a:endParaRPr lang="en-GB"/>
            </a:p>
          </p:txBody>
        </p:sp>
      </p:grpSp>
      <p:sp>
        <p:nvSpPr>
          <p:cNvPr id="6" name="TextBox 6"/>
          <p:cNvSpPr txBox="1"/>
          <p:nvPr/>
        </p:nvSpPr>
        <p:spPr>
          <a:xfrm>
            <a:off x="2020852" y="106363"/>
            <a:ext cx="4837148" cy="1317668"/>
          </a:xfrm>
          <a:prstGeom prst="rect">
            <a:avLst/>
          </a:prstGeom>
        </p:spPr>
        <p:txBody>
          <a:bodyPr wrap="square" lIns="0" tIns="0" rIns="0" bIns="0" rtlCol="0" anchor="t">
            <a:spAutoFit/>
          </a:bodyPr>
          <a:lstStyle/>
          <a:p>
            <a:pPr algn="ctr">
              <a:lnSpc>
                <a:spcPts val="11200"/>
              </a:lnSpc>
            </a:pPr>
            <a:r>
              <a:rPr lang="en-US" sz="8000" b="1" dirty="0">
                <a:solidFill>
                  <a:srgbClr val="000000"/>
                </a:solidFill>
                <a:latin typeface="Times New Roman Bold"/>
                <a:ea typeface="Times New Roman Bold"/>
                <a:cs typeface="Times New Roman Bold"/>
                <a:sym typeface="Times New Roman Bold"/>
              </a:rPr>
              <a:t>References</a:t>
            </a:r>
          </a:p>
        </p:txBody>
      </p:sp>
      <p:sp>
        <p:nvSpPr>
          <p:cNvPr id="7" name="TextBox 7"/>
          <p:cNvSpPr txBox="1"/>
          <p:nvPr/>
        </p:nvSpPr>
        <p:spPr>
          <a:xfrm>
            <a:off x="884489" y="2196193"/>
            <a:ext cx="3649246" cy="581025"/>
          </a:xfrm>
          <a:prstGeom prst="rect">
            <a:avLst/>
          </a:prstGeom>
        </p:spPr>
        <p:txBody>
          <a:bodyPr lIns="0" tIns="0" rIns="0" bIns="0" rtlCol="0" anchor="t">
            <a:spAutoFit/>
          </a:bodyPr>
          <a:lstStyle/>
          <a:p>
            <a:pPr algn="ctr">
              <a:lnSpc>
                <a:spcPts val="4200"/>
              </a:lnSpc>
            </a:pPr>
            <a:r>
              <a:rPr lang="en-US" sz="3000">
                <a:solidFill>
                  <a:srgbClr val="000000"/>
                </a:solidFill>
                <a:latin typeface="Times New Roman"/>
                <a:ea typeface="Times New Roman"/>
                <a:cs typeface="Times New Roman"/>
                <a:sym typeface="Times New Roman"/>
              </a:rPr>
              <a:t>1. Morton et al .2017</a:t>
            </a:r>
          </a:p>
        </p:txBody>
      </p:sp>
      <p:sp>
        <p:nvSpPr>
          <p:cNvPr id="8" name="TextBox 8"/>
          <p:cNvSpPr txBox="1"/>
          <p:nvPr/>
        </p:nvSpPr>
        <p:spPr>
          <a:xfrm>
            <a:off x="1056308" y="2962592"/>
            <a:ext cx="2591619" cy="581025"/>
          </a:xfrm>
          <a:prstGeom prst="rect">
            <a:avLst/>
          </a:prstGeom>
        </p:spPr>
        <p:txBody>
          <a:bodyPr lIns="0" tIns="0" rIns="0" bIns="0" rtlCol="0" anchor="t">
            <a:spAutoFit/>
          </a:bodyPr>
          <a:lstStyle/>
          <a:p>
            <a:pPr algn="ctr">
              <a:lnSpc>
                <a:spcPts val="4200"/>
              </a:lnSpc>
            </a:pPr>
            <a:r>
              <a:rPr lang="en-US" sz="3000">
                <a:solidFill>
                  <a:srgbClr val="000000"/>
                </a:solidFill>
                <a:latin typeface="Times New Roman"/>
                <a:ea typeface="Times New Roman"/>
                <a:cs typeface="Times New Roman"/>
                <a:sym typeface="Times New Roman"/>
              </a:rPr>
              <a:t>2. Stewart .2015</a:t>
            </a:r>
          </a:p>
        </p:txBody>
      </p:sp>
      <p:sp>
        <p:nvSpPr>
          <p:cNvPr id="9" name="TextBox 9"/>
          <p:cNvSpPr txBox="1"/>
          <p:nvPr/>
        </p:nvSpPr>
        <p:spPr>
          <a:xfrm>
            <a:off x="967160" y="3724592"/>
            <a:ext cx="6802413" cy="581025"/>
          </a:xfrm>
          <a:prstGeom prst="rect">
            <a:avLst/>
          </a:prstGeom>
        </p:spPr>
        <p:txBody>
          <a:bodyPr lIns="0" tIns="0" rIns="0" bIns="0" rtlCol="0" anchor="t">
            <a:spAutoFit/>
          </a:bodyPr>
          <a:lstStyle/>
          <a:p>
            <a:pPr algn="ctr">
              <a:lnSpc>
                <a:spcPts val="4200"/>
              </a:lnSpc>
            </a:pPr>
            <a:r>
              <a:rPr lang="en-US" sz="3000">
                <a:solidFill>
                  <a:srgbClr val="000000"/>
                </a:solidFill>
                <a:latin typeface="Times New Roman"/>
                <a:ea typeface="Times New Roman"/>
                <a:cs typeface="Times New Roman"/>
                <a:sym typeface="Times New Roman"/>
              </a:rPr>
              <a:t>3. Implementing SDGs in Australia .2018 </a:t>
            </a:r>
          </a:p>
        </p:txBody>
      </p:sp>
      <p:sp>
        <p:nvSpPr>
          <p:cNvPr id="10" name="TextBox 10"/>
          <p:cNvSpPr txBox="1"/>
          <p:nvPr/>
        </p:nvSpPr>
        <p:spPr>
          <a:xfrm>
            <a:off x="967160" y="4486592"/>
            <a:ext cx="8696325" cy="581025"/>
          </a:xfrm>
          <a:prstGeom prst="rect">
            <a:avLst/>
          </a:prstGeom>
        </p:spPr>
        <p:txBody>
          <a:bodyPr lIns="0" tIns="0" rIns="0" bIns="0" rtlCol="0" anchor="t">
            <a:spAutoFit/>
          </a:bodyPr>
          <a:lstStyle/>
          <a:p>
            <a:pPr algn="ctr">
              <a:lnSpc>
                <a:spcPts val="4200"/>
              </a:lnSpc>
            </a:pPr>
            <a:r>
              <a:rPr lang="en-US" sz="3000">
                <a:solidFill>
                  <a:srgbClr val="000000"/>
                </a:solidFill>
                <a:latin typeface="Times New Roman"/>
                <a:ea typeface="Times New Roman"/>
                <a:cs typeface="Times New Roman"/>
                <a:sym typeface="Times New Roman"/>
              </a:rPr>
              <a:t>4. The Sustainable Development Goals in Bangladesh</a:t>
            </a:r>
          </a:p>
        </p:txBody>
      </p:sp>
      <p:sp>
        <p:nvSpPr>
          <p:cNvPr id="11" name="TextBox 11"/>
          <p:cNvSpPr txBox="1"/>
          <p:nvPr/>
        </p:nvSpPr>
        <p:spPr>
          <a:xfrm>
            <a:off x="506632" y="5248592"/>
            <a:ext cx="5748720" cy="1149192"/>
          </a:xfrm>
          <a:prstGeom prst="rect">
            <a:avLst/>
          </a:prstGeom>
        </p:spPr>
        <p:txBody>
          <a:bodyPr lIns="0" tIns="0" rIns="0" bIns="0" rtlCol="0" anchor="t">
            <a:spAutoFit/>
          </a:bodyPr>
          <a:lstStyle/>
          <a:p>
            <a:pPr algn="ctr">
              <a:lnSpc>
                <a:spcPts val="4200"/>
              </a:lnSpc>
            </a:pPr>
            <a:r>
              <a:rPr lang="en-US" sz="3000">
                <a:solidFill>
                  <a:srgbClr val="000000"/>
                </a:solidFill>
                <a:latin typeface="Times New Roman"/>
                <a:ea typeface="Times New Roman"/>
                <a:cs typeface="Times New Roman"/>
                <a:sym typeface="Times New Roman"/>
              </a:rPr>
              <a:t>5. United Nations Bangladesh</a:t>
            </a:r>
          </a:p>
          <a:p>
            <a:pPr algn="ctr">
              <a:lnSpc>
                <a:spcPts val="4567"/>
              </a:lnSpc>
            </a:pPr>
            <a:endParaRPr lang="en-US" sz="3000">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10800000">
            <a:off x="0" y="7065308"/>
            <a:ext cx="3221692" cy="3221692"/>
          </a:xfrm>
          <a:custGeom>
            <a:avLst/>
            <a:gdLst/>
            <a:ahLst/>
            <a:cxnLst/>
            <a:rect l="l" t="t" r="r" b="b"/>
            <a:pathLst>
              <a:path w="3221692" h="3221692">
                <a:moveTo>
                  <a:pt x="0" y="0"/>
                </a:moveTo>
                <a:lnTo>
                  <a:pt x="3221692" y="0"/>
                </a:lnTo>
                <a:lnTo>
                  <a:pt x="3221692" y="3221692"/>
                </a:lnTo>
                <a:lnTo>
                  <a:pt x="0" y="3221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3" name="Group 3"/>
          <p:cNvGrpSpPr/>
          <p:nvPr/>
        </p:nvGrpSpPr>
        <p:grpSpPr>
          <a:xfrm rot="-8100000">
            <a:off x="-4252983" y="3307993"/>
            <a:ext cx="22404652" cy="8950886"/>
            <a:chOff x="0" y="0"/>
            <a:chExt cx="35276568" cy="14093347"/>
          </a:xfrm>
        </p:grpSpPr>
        <p:sp>
          <p:nvSpPr>
            <p:cNvPr id="4" name="Freeform 4"/>
            <p:cNvSpPr/>
            <p:nvPr/>
          </p:nvSpPr>
          <p:spPr>
            <a:xfrm>
              <a:off x="0" y="0"/>
              <a:ext cx="35276569" cy="14093346"/>
            </a:xfrm>
            <a:custGeom>
              <a:avLst/>
              <a:gdLst/>
              <a:ahLst/>
              <a:cxnLst/>
              <a:rect l="l" t="t" r="r" b="b"/>
              <a:pathLst>
                <a:path w="35276569" h="14093346">
                  <a:moveTo>
                    <a:pt x="0" y="0"/>
                  </a:moveTo>
                  <a:lnTo>
                    <a:pt x="35276569" y="0"/>
                  </a:lnTo>
                  <a:lnTo>
                    <a:pt x="35276569" y="14093346"/>
                  </a:lnTo>
                  <a:lnTo>
                    <a:pt x="0" y="14093346"/>
                  </a:lnTo>
                  <a:close/>
                </a:path>
              </a:pathLst>
            </a:custGeom>
            <a:solidFill>
              <a:srgbClr val="F1EFE1"/>
            </a:solidFill>
          </p:spPr>
          <p:txBody>
            <a:bodyPr/>
            <a:lstStyle/>
            <a:p>
              <a:endParaRPr lang="en-GB"/>
            </a:p>
          </p:txBody>
        </p:sp>
      </p:grpSp>
      <p:sp>
        <p:nvSpPr>
          <p:cNvPr id="5" name="Freeform 5"/>
          <p:cNvSpPr/>
          <p:nvPr/>
        </p:nvSpPr>
        <p:spPr>
          <a:xfrm rot="5400000">
            <a:off x="11136547" y="3135547"/>
            <a:ext cx="7151453" cy="7151453"/>
          </a:xfrm>
          <a:custGeom>
            <a:avLst/>
            <a:gdLst/>
            <a:ahLst/>
            <a:cxnLst/>
            <a:rect l="l" t="t" r="r" b="b"/>
            <a:pathLst>
              <a:path w="7151453" h="7151453">
                <a:moveTo>
                  <a:pt x="0" y="0"/>
                </a:moveTo>
                <a:lnTo>
                  <a:pt x="7151453" y="0"/>
                </a:lnTo>
                <a:lnTo>
                  <a:pt x="7151453" y="7151453"/>
                </a:lnTo>
                <a:lnTo>
                  <a:pt x="0" y="71514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6" name="Freeform 6"/>
          <p:cNvSpPr/>
          <p:nvPr/>
        </p:nvSpPr>
        <p:spPr>
          <a:xfrm>
            <a:off x="10426329" y="155177"/>
            <a:ext cx="6280311" cy="6266948"/>
          </a:xfrm>
          <a:custGeom>
            <a:avLst/>
            <a:gdLst/>
            <a:ahLst/>
            <a:cxnLst/>
            <a:rect l="l" t="t" r="r" b="b"/>
            <a:pathLst>
              <a:path w="6280311" h="6266948">
                <a:moveTo>
                  <a:pt x="0" y="0"/>
                </a:moveTo>
                <a:lnTo>
                  <a:pt x="6280310" y="0"/>
                </a:lnTo>
                <a:lnTo>
                  <a:pt x="6280310" y="6266949"/>
                </a:lnTo>
                <a:lnTo>
                  <a:pt x="0" y="6266949"/>
                </a:lnTo>
                <a:lnTo>
                  <a:pt x="0" y="0"/>
                </a:lnTo>
                <a:close/>
              </a:path>
            </a:pathLst>
          </a:custGeom>
          <a:blipFill>
            <a:blip r:embed="rId6"/>
            <a:stretch>
              <a:fillRect/>
            </a:stretch>
          </a:blipFill>
        </p:spPr>
        <p:txBody>
          <a:bodyPr/>
          <a:lstStyle/>
          <a:p>
            <a:endParaRPr lang="en-GB"/>
          </a:p>
        </p:txBody>
      </p:sp>
      <p:sp>
        <p:nvSpPr>
          <p:cNvPr id="7" name="Freeform 7"/>
          <p:cNvSpPr/>
          <p:nvPr/>
        </p:nvSpPr>
        <p:spPr>
          <a:xfrm>
            <a:off x="0" y="-507741"/>
            <a:ext cx="9491239" cy="11070872"/>
          </a:xfrm>
          <a:custGeom>
            <a:avLst/>
            <a:gdLst/>
            <a:ahLst/>
            <a:cxnLst/>
            <a:rect l="l" t="t" r="r" b="b"/>
            <a:pathLst>
              <a:path w="9491239" h="11070872">
                <a:moveTo>
                  <a:pt x="0" y="0"/>
                </a:moveTo>
                <a:lnTo>
                  <a:pt x="9491239" y="0"/>
                </a:lnTo>
                <a:lnTo>
                  <a:pt x="9491239" y="11070872"/>
                </a:lnTo>
                <a:lnTo>
                  <a:pt x="0" y="11070872"/>
                </a:lnTo>
                <a:lnTo>
                  <a:pt x="0" y="0"/>
                </a:lnTo>
                <a:close/>
              </a:path>
            </a:pathLst>
          </a:custGeom>
          <a:blipFill>
            <a:blip r:embed="rId7">
              <a:alphaModFix amt="70000"/>
            </a:blip>
            <a:stretch>
              <a:fillRect/>
            </a:stretch>
          </a:blipFill>
        </p:spPr>
        <p:txBody>
          <a:bodyPr/>
          <a:lstStyle/>
          <a:p>
            <a:endParaRPr lang="en-GB"/>
          </a:p>
        </p:txBody>
      </p:sp>
      <p:sp>
        <p:nvSpPr>
          <p:cNvPr id="8" name="TextBox 8"/>
          <p:cNvSpPr txBox="1"/>
          <p:nvPr/>
        </p:nvSpPr>
        <p:spPr>
          <a:xfrm>
            <a:off x="0" y="3967328"/>
            <a:ext cx="9961198" cy="1566544"/>
          </a:xfrm>
          <a:prstGeom prst="rect">
            <a:avLst/>
          </a:prstGeom>
        </p:spPr>
        <p:txBody>
          <a:bodyPr lIns="0" tIns="0" rIns="0" bIns="0" rtlCol="0" anchor="t">
            <a:spAutoFit/>
          </a:bodyPr>
          <a:lstStyle/>
          <a:p>
            <a:pPr algn="ctr">
              <a:lnSpc>
                <a:spcPts val="12880"/>
              </a:lnSpc>
            </a:pPr>
            <a:r>
              <a:rPr lang="en-US" sz="9200">
                <a:solidFill>
                  <a:srgbClr val="000000"/>
                </a:solidFill>
                <a:latin typeface="Gulfs Display"/>
                <a:ea typeface="Gulfs Display"/>
                <a:cs typeface="Gulfs Display"/>
                <a:sym typeface="Gulfs Display"/>
              </a:rPr>
              <a:t>Thank You</a:t>
            </a:r>
          </a:p>
        </p:txBody>
      </p:sp>
      <p:sp>
        <p:nvSpPr>
          <p:cNvPr id="9" name="TextBox 9"/>
          <p:cNvSpPr txBox="1"/>
          <p:nvPr/>
        </p:nvSpPr>
        <p:spPr>
          <a:xfrm>
            <a:off x="0" y="9770110"/>
            <a:ext cx="6128930" cy="516890"/>
          </a:xfrm>
          <a:prstGeom prst="rect">
            <a:avLst/>
          </a:prstGeom>
        </p:spPr>
        <p:txBody>
          <a:bodyPr lIns="0" tIns="0" rIns="0" bIns="0" rtlCol="0" anchor="t">
            <a:spAutoFit/>
          </a:bodyPr>
          <a:lstStyle/>
          <a:p>
            <a:pPr algn="just">
              <a:lnSpc>
                <a:spcPts val="1960"/>
              </a:lnSpc>
            </a:pPr>
            <a:r>
              <a:rPr lang="en-US" sz="1400" spc="28">
                <a:solidFill>
                  <a:srgbClr val="000000"/>
                </a:solidFill>
                <a:latin typeface="Times New Roman"/>
                <a:ea typeface="Times New Roman"/>
                <a:cs typeface="Times New Roman"/>
                <a:sym typeface="Times New Roman"/>
              </a:rPr>
              <a:t> Fig 12.Bangladesh Map Flag</a:t>
            </a:r>
          </a:p>
          <a:p>
            <a:pPr algn="just">
              <a:lnSpc>
                <a:spcPts val="1960"/>
              </a:lnSpc>
              <a:spcBef>
                <a:spcPct val="0"/>
              </a:spcBef>
            </a:pPr>
            <a:r>
              <a:rPr lang="en-US" sz="1400" spc="28">
                <a:solidFill>
                  <a:srgbClr val="000000"/>
                </a:solidFill>
                <a:latin typeface="Times New Roman"/>
                <a:ea typeface="Times New Roman"/>
                <a:cs typeface="Times New Roman"/>
                <a:sym typeface="Times New Roman"/>
              </a:rPr>
              <a:t>Source: https://en.wikipedia.org/wiki/File:Flag_Map_of_Bangladesh.png</a:t>
            </a:r>
          </a:p>
        </p:txBody>
      </p:sp>
      <p:sp>
        <p:nvSpPr>
          <p:cNvPr id="10" name="TextBox 10"/>
          <p:cNvSpPr txBox="1"/>
          <p:nvPr/>
        </p:nvSpPr>
        <p:spPr>
          <a:xfrm>
            <a:off x="13435235" y="9550890"/>
            <a:ext cx="4997424" cy="735965"/>
          </a:xfrm>
          <a:prstGeom prst="rect">
            <a:avLst/>
          </a:prstGeom>
        </p:spPr>
        <p:txBody>
          <a:bodyPr lIns="0" tIns="0" rIns="0" bIns="0" rtlCol="0" anchor="t">
            <a:spAutoFit/>
          </a:bodyPr>
          <a:lstStyle/>
          <a:p>
            <a:pPr algn="l">
              <a:lnSpc>
                <a:spcPts val="1960"/>
              </a:lnSpc>
            </a:pPr>
            <a:r>
              <a:rPr lang="en-US" sz="1400" spc="28">
                <a:solidFill>
                  <a:srgbClr val="FFFFFF"/>
                </a:solidFill>
                <a:latin typeface="Aileron"/>
                <a:ea typeface="Aileron"/>
                <a:cs typeface="Aileron"/>
                <a:sym typeface="Aileron"/>
              </a:rPr>
              <a:t>Fig 13.Sustainable Development Goals Circle</a:t>
            </a:r>
          </a:p>
          <a:p>
            <a:pPr algn="l">
              <a:lnSpc>
                <a:spcPts val="1960"/>
              </a:lnSpc>
              <a:spcBef>
                <a:spcPct val="0"/>
              </a:spcBef>
            </a:pPr>
            <a:r>
              <a:rPr lang="en-US" sz="1400" spc="28">
                <a:solidFill>
                  <a:srgbClr val="FFFFFF"/>
                </a:solidFill>
                <a:latin typeface="Aileron"/>
                <a:ea typeface="Aileron"/>
                <a:cs typeface="Aileron"/>
                <a:sym typeface="Aileron"/>
              </a:rPr>
              <a:t>Source: https://www.vhv.rs/viewpic/hoRwooJ_un-sustainable-development-goals-circle-hd-png-download/</a:t>
            </a:r>
          </a:p>
        </p:txBody>
      </p:sp>
      <p:sp>
        <p:nvSpPr>
          <p:cNvPr id="11" name="AutoShape 11"/>
          <p:cNvSpPr/>
          <p:nvPr/>
        </p:nvSpPr>
        <p:spPr>
          <a:xfrm>
            <a:off x="1684976" y="8658293"/>
            <a:ext cx="14918048" cy="0"/>
          </a:xfrm>
          <a:prstGeom prst="line">
            <a:avLst/>
          </a:prstGeom>
          <a:ln w="9525" cap="rnd">
            <a:solidFill>
              <a:srgbClr val="000000"/>
            </a:solidFill>
            <a:prstDash val="solid"/>
            <a:headEnd type="none" w="sm" len="sm"/>
            <a:tailEnd type="none" w="sm" len="sm"/>
          </a:ln>
        </p:spPr>
        <p:txBody>
          <a:bodyPr/>
          <a:lstStyle/>
          <a:p>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968</Words>
  <Application>Microsoft Office PowerPoint</Application>
  <PresentationFormat>Custom</PresentationFormat>
  <Paragraphs>112</Paragraphs>
  <Slides>10</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10</vt:i4>
      </vt:variant>
    </vt:vector>
  </HeadingPairs>
  <TitlesOfParts>
    <vt:vector size="22" baseType="lpstr">
      <vt:lpstr>Aileron Bold</vt:lpstr>
      <vt:lpstr>Aileron Heavy</vt:lpstr>
      <vt:lpstr>Kollektif Bold</vt:lpstr>
      <vt:lpstr>Times New Roman</vt:lpstr>
      <vt:lpstr>Arial</vt:lpstr>
      <vt:lpstr>Times New Roman Bold</vt:lpstr>
      <vt:lpstr>Aileron</vt:lpstr>
      <vt:lpstr>Gulfs Display</vt:lpstr>
      <vt:lpstr>Calibri</vt:lpstr>
      <vt:lpstr>Canva Sans Bold</vt:lpstr>
      <vt:lpstr>Times New Roman Condensed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SDGs</dc:title>
  <cp:lastModifiedBy>Siddiki, Al</cp:lastModifiedBy>
  <cp:revision>2</cp:revision>
  <dcterms:created xsi:type="dcterms:W3CDTF">2006-08-16T00:00:00Z</dcterms:created>
  <dcterms:modified xsi:type="dcterms:W3CDTF">2025-03-11T09:26:15Z</dcterms:modified>
  <dc:identifier>DAGgSycBA5s</dc:identifier>
</cp:coreProperties>
</file>